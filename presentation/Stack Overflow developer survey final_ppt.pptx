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075D6A-7853-4021-AB13-781B28175E9D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C5F4C8-CBAF-4EF8-BD88-ACA40AE5F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755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5F4C8-CBAF-4EF8-BD88-ACA40AE5F93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8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f-courses-data.s3.us.cloud-object-storage.appdomain.cloud/n01PQ9pSmiRX6520flujwQ/survey-data.csv" TargetMode="External"/><Relationship Id="rId2" Type="http://schemas.openxmlformats.org/officeDocument/2006/relationships/hyperlink" Target="https://cf-courses-data.s3.us.cloud-object-storage.appdomain.cloud/IBM-DA0321EN-SkillsNetwork/labs/module%201/Accessing%20Data%20Using%20APIs/jobs.json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f-courses-data.s3.us.cloud-object-storage.appdomain.cloud/IBM-DA0321EN-SkillsNetwork/labs/datasets/Programming_Languages.html" TargetMode="External"/><Relationship Id="rId4" Type="http://schemas.openxmlformats.org/officeDocument/2006/relationships/hyperlink" Target="https://stackoverflow.blog/2024/08/06/2024-developer-survey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8601889" y="0"/>
            <a:ext cx="3587061" cy="6858000"/>
          </a:xfrm>
          <a:prstGeom prst="rect">
            <a:avLst/>
          </a:prstGeom>
          <a:solidFill>
            <a:srgbClr val="E1F1F9"/>
          </a:solidFill>
          <a:ln>
            <a:solidFill>
              <a:srgbClr val="E1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411480"/>
            <a:ext cx="685800" cy="54864"/>
          </a:xfrm>
          <a:prstGeom prst="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9957" y="796036"/>
            <a:ext cx="8067181" cy="18774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dirty="0">
                <a:solidFill>
                  <a:srgbClr val="13365B"/>
                </a:solidFill>
                <a:latin typeface="Aptos"/>
              </a:rPr>
              <a:t>STACK OVERFLOW</a:t>
            </a:r>
            <a:r>
              <a:rPr lang="en-US" sz="2800" b="1" dirty="0">
                <a:solidFill>
                  <a:srgbClr val="13365B"/>
                </a:solidFill>
                <a:latin typeface="Aptos"/>
              </a:rPr>
              <a:t> </a:t>
            </a:r>
            <a:r>
              <a:rPr sz="2800" b="1" dirty="0">
                <a:solidFill>
                  <a:srgbClr val="13365B"/>
                </a:solidFill>
                <a:latin typeface="Aptos"/>
              </a:rPr>
              <a:t>DEVELOPER SURVEY</a:t>
            </a:r>
            <a:r>
              <a:rPr lang="en-US" sz="2800" b="1" dirty="0">
                <a:solidFill>
                  <a:srgbClr val="13365B"/>
                </a:solidFill>
                <a:latin typeface="Aptos"/>
              </a:rPr>
              <a:t> 2024 </a:t>
            </a:r>
          </a:p>
          <a:p>
            <a:r>
              <a:rPr lang="en-US" sz="2800" b="1" dirty="0">
                <a:solidFill>
                  <a:srgbClr val="13365B"/>
                </a:solidFill>
                <a:latin typeface="Aptos"/>
              </a:rPr>
              <a:t>Technology Trends, Job Market &amp; Developer Demographics</a:t>
            </a:r>
          </a:p>
          <a:p>
            <a:pPr algn="l"/>
            <a:endParaRPr sz="3200" b="1" dirty="0">
              <a:solidFill>
                <a:srgbClr val="13365B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7680" y="2081231"/>
            <a:ext cx="184731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endParaRPr sz="1400" b="1" dirty="0">
              <a:solidFill>
                <a:srgbClr val="2569B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716768"/>
            <a:ext cx="2283382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dirty="0">
                <a:solidFill>
                  <a:srgbClr val="2569B1"/>
                </a:solidFill>
                <a:latin typeface="Aptos"/>
              </a:rPr>
              <a:t>Data Analy</a:t>
            </a:r>
            <a:r>
              <a:rPr lang="en-US" b="1" dirty="0">
                <a:solidFill>
                  <a:srgbClr val="2569B1"/>
                </a:solidFill>
                <a:latin typeface="Aptos"/>
              </a:rPr>
              <a:t>tics </a:t>
            </a:r>
            <a:r>
              <a:rPr b="1" dirty="0">
                <a:solidFill>
                  <a:srgbClr val="2569B1"/>
                </a:solidFill>
                <a:latin typeface="Aptos"/>
              </a:rPr>
              <a:t>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503" y="3647450"/>
            <a:ext cx="1699851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dirty="0">
                <a:solidFill>
                  <a:srgbClr val="002060"/>
                </a:solidFill>
                <a:latin typeface="Aptos"/>
              </a:rPr>
              <a:t>Ashwini Wadkar
</a:t>
            </a:r>
            <a:r>
              <a:rPr lang="en-US" sz="1600" dirty="0">
                <a:solidFill>
                  <a:srgbClr val="002060"/>
                </a:solidFill>
                <a:latin typeface="Aptos"/>
              </a:rPr>
              <a:t>September</a:t>
            </a:r>
            <a:r>
              <a:rPr lang="en-US" sz="1600" dirty="0"/>
              <a:t> </a:t>
            </a:r>
            <a:r>
              <a:rPr sz="1600" dirty="0">
                <a:solidFill>
                  <a:srgbClr val="002060"/>
                </a:solidFill>
                <a:latin typeface="Aptos"/>
              </a:rPr>
              <a:t>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5476696"/>
            <a:ext cx="2007281" cy="4308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dirty="0">
                <a:solidFill>
                  <a:srgbClr val="17707E"/>
                </a:solidFill>
                <a:latin typeface="Aptos"/>
              </a:rPr>
              <a:t>From developer </a:t>
            </a:r>
            <a:r>
              <a:rPr lang="en-US" sz="1100" b="1" dirty="0">
                <a:solidFill>
                  <a:srgbClr val="17707E"/>
                </a:solidFill>
                <a:latin typeface="Aptos"/>
              </a:rPr>
              <a:t>survey </a:t>
            </a:r>
            <a:r>
              <a:rPr sz="1100" b="1" dirty="0">
                <a:solidFill>
                  <a:srgbClr val="17707E"/>
                </a:solidFill>
                <a:latin typeface="Aptos"/>
              </a:rPr>
              <a:t>insights
to data-driven decisions</a:t>
            </a:r>
          </a:p>
        </p:txBody>
      </p:sp>
      <p:pic>
        <p:nvPicPr>
          <p:cNvPr id="10" name="Picture 9" descr="outline_illustrati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639" y="1005840"/>
            <a:ext cx="3337560" cy="41605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3365B"/>
          </a:solidFill>
          <a:ln>
            <a:solidFill>
              <a:srgbClr val="13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75720" y="6556248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927080" y="-109728"/>
            <a:ext cx="1463040" cy="1143000"/>
          </a:xfrm>
          <a:prstGeom prst="roundRect">
            <a:avLst/>
          </a:prstGeom>
          <a:solidFill>
            <a:srgbClr val="E1F1F9"/>
          </a:solidFill>
          <a:ln>
            <a:solidFill>
              <a:srgbClr val="E1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475720" y="137160"/>
            <a:ext cx="438912" cy="438912"/>
          </a:xfrm>
          <a:prstGeom prst="round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320040"/>
            <a:ext cx="594360" cy="45720"/>
          </a:xfrm>
          <a:prstGeom prst="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434561"/>
            <a:ext cx="1686680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200" b="1" dirty="0">
                <a:solidFill>
                  <a:srgbClr val="13365B"/>
                </a:solidFill>
                <a:latin typeface="Aptos"/>
              </a:rPr>
              <a:t>OUTLINE</a:t>
            </a:r>
            <a:endParaRPr sz="2700" b="1" dirty="0">
              <a:solidFill>
                <a:srgbClr val="13365B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3365B"/>
          </a:solidFill>
          <a:ln>
            <a:solidFill>
              <a:srgbClr val="13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0520" y="6556248"/>
            <a:ext cx="5548075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Aptos"/>
              </a:rPr>
              <a:t>STACK OVERFLOW DEVELOPER SURVEY 2024 | Technology Trends &amp; Demographics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0" name="Oval 9"/>
          <p:cNvSpPr/>
          <p:nvPr/>
        </p:nvSpPr>
        <p:spPr>
          <a:xfrm>
            <a:off x="621792" y="1417320"/>
            <a:ext cx="457200" cy="457200"/>
          </a:xfrm>
          <a:prstGeom prst="ellipse">
            <a:avLst/>
          </a:prstGeom>
          <a:solidFill>
            <a:srgbClr val="13365B"/>
          </a:solidFill>
          <a:ln>
            <a:solidFill>
              <a:srgbClr val="13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14173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61872" y="1417320"/>
            <a:ext cx="5029200" cy="45720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81328" y="1417320"/>
            <a:ext cx="347472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2569B1"/>
                </a:solidFill>
                <a:latin typeface="Aptos"/>
              </a:rPr>
              <a:t>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1417320"/>
            <a:ext cx="4114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dirty="0">
                <a:solidFill>
                  <a:srgbClr val="13365B"/>
                </a:solidFill>
                <a:latin typeface="Aptos"/>
              </a:rPr>
              <a:t>Executive Summary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" y="2130552"/>
            <a:ext cx="457200" cy="457200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2130552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61872" y="2130552"/>
            <a:ext cx="5029200" cy="45720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81328" y="2130552"/>
            <a:ext cx="347472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2569B1"/>
                </a:solidFill>
                <a:latin typeface="Aptos"/>
              </a:rPr>
              <a:t>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1952" y="2130552"/>
            <a:ext cx="4114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dirty="0">
                <a:solidFill>
                  <a:srgbClr val="13365B"/>
                </a:solidFill>
                <a:latin typeface="Aptos"/>
              </a:rPr>
              <a:t>Introduction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" y="2843784"/>
            <a:ext cx="457200" cy="457200"/>
          </a:xfrm>
          <a:prstGeom prst="ellipse">
            <a:avLst/>
          </a:prstGeom>
          <a:solidFill>
            <a:srgbClr val="13365B"/>
          </a:solidFill>
          <a:ln>
            <a:solidFill>
              <a:srgbClr val="13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2843784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61872" y="2843784"/>
            <a:ext cx="5029200" cy="45720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81328" y="2843784"/>
            <a:ext cx="347472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2569B1"/>
                </a:solidFill>
                <a:latin typeface="Aptos"/>
              </a:rPr>
              <a:t>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01952" y="2843784"/>
            <a:ext cx="4114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dirty="0">
                <a:solidFill>
                  <a:srgbClr val="13365B"/>
                </a:solidFill>
                <a:latin typeface="Aptos"/>
              </a:rPr>
              <a:t>Methodology</a:t>
            </a:r>
          </a:p>
        </p:txBody>
      </p:sp>
      <p:sp>
        <p:nvSpPr>
          <p:cNvPr id="25" name="Oval 24"/>
          <p:cNvSpPr/>
          <p:nvPr/>
        </p:nvSpPr>
        <p:spPr>
          <a:xfrm>
            <a:off x="621792" y="3557015"/>
            <a:ext cx="457200" cy="457200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" y="3557015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61872" y="3557015"/>
            <a:ext cx="5029200" cy="45720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81328" y="3557015"/>
            <a:ext cx="347472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2569B1"/>
                </a:solidFill>
                <a:latin typeface="Aptos"/>
              </a:rPr>
              <a:t>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01952" y="3631726"/>
            <a:ext cx="3489289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dirty="0">
                <a:solidFill>
                  <a:srgbClr val="13365B"/>
                </a:solidFill>
                <a:latin typeface="Aptos"/>
              </a:rPr>
              <a:t>Results</a:t>
            </a:r>
            <a:r>
              <a:rPr lang="en-US" sz="1400" b="1" dirty="0">
                <a:solidFill>
                  <a:srgbClr val="13365B"/>
                </a:solidFill>
                <a:latin typeface="Aptos"/>
              </a:rPr>
              <a:t> – Visualization (Charts) &amp; Dashboard</a:t>
            </a:r>
            <a:endParaRPr sz="1400" b="1" dirty="0">
              <a:solidFill>
                <a:srgbClr val="13365B"/>
              </a:solidFill>
              <a:latin typeface="Aptos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621792" y="4270248"/>
            <a:ext cx="457200" cy="457200"/>
          </a:xfrm>
          <a:prstGeom prst="ellipse">
            <a:avLst/>
          </a:prstGeom>
          <a:solidFill>
            <a:srgbClr val="13365B"/>
          </a:solidFill>
          <a:ln>
            <a:solidFill>
              <a:srgbClr val="13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" y="4270248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61872" y="4270248"/>
            <a:ext cx="5029200" cy="45720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481328" y="4270248"/>
            <a:ext cx="347472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2569B1"/>
                </a:solidFill>
                <a:latin typeface="Aptos"/>
              </a:rPr>
              <a:t>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01952" y="4344959"/>
            <a:ext cx="2875018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dirty="0">
                <a:solidFill>
                  <a:srgbClr val="13365B"/>
                </a:solidFill>
                <a:latin typeface="Aptos"/>
              </a:rPr>
              <a:t>Discussion</a:t>
            </a:r>
            <a:r>
              <a:rPr lang="en-US" sz="1400" b="1" dirty="0">
                <a:solidFill>
                  <a:srgbClr val="13365B"/>
                </a:solidFill>
                <a:latin typeface="Aptos"/>
              </a:rPr>
              <a:t> – Findings &amp; Implications</a:t>
            </a:r>
            <a:endParaRPr sz="1400" b="1" dirty="0">
              <a:solidFill>
                <a:srgbClr val="13365B"/>
              </a:solidFill>
              <a:latin typeface="Apto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621792" y="4983480"/>
            <a:ext cx="457200" cy="457200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2" y="49834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61872" y="4983480"/>
            <a:ext cx="5029200" cy="45720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481328" y="4983480"/>
            <a:ext cx="347472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2569B1"/>
                </a:solidFill>
                <a:latin typeface="Aptos"/>
              </a:rPr>
              <a:t>◎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01952" y="4983480"/>
            <a:ext cx="4114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3365B"/>
                </a:solidFill>
                <a:latin typeface="Aptos"/>
              </a:rPr>
              <a:t>Conclusion</a:t>
            </a:r>
          </a:p>
        </p:txBody>
      </p:sp>
      <p:pic>
        <p:nvPicPr>
          <p:cNvPr id="43" name="Picture 42" descr="outline_illustrati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25880"/>
            <a:ext cx="41605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927080" y="-109728"/>
            <a:ext cx="1463040" cy="1143000"/>
          </a:xfrm>
          <a:prstGeom prst="roundRect">
            <a:avLst/>
          </a:prstGeom>
          <a:solidFill>
            <a:srgbClr val="E1F1F9"/>
          </a:solidFill>
          <a:ln>
            <a:solidFill>
              <a:srgbClr val="E1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475720" y="137160"/>
            <a:ext cx="438912" cy="438912"/>
          </a:xfrm>
          <a:prstGeom prst="round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320040"/>
            <a:ext cx="594360" cy="45720"/>
          </a:xfrm>
          <a:prstGeom prst="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434561"/>
            <a:ext cx="4003788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200" b="1" dirty="0">
                <a:solidFill>
                  <a:srgbClr val="13365B"/>
                </a:solidFill>
                <a:latin typeface="Aptos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0467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 dirty="0">
                <a:solidFill>
                  <a:srgbClr val="5E758B"/>
                </a:solidFill>
                <a:latin typeface="Aptos"/>
              </a:rPr>
              <a:t>KEY INSIGHTS AT A GLANCE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3365B"/>
          </a:solidFill>
          <a:ln>
            <a:solidFill>
              <a:srgbClr val="13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49110"/>
            <a:ext cx="369364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Aptos"/>
              </a:rPr>
              <a:t>STACK OVERFLOW DEVELOPER SURVEY 2024 | Technology Trends &amp; Demographics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394960" cy="150876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73152" cy="1508760"/>
          </a:xfrm>
          <a:prstGeom prst="roundRect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5800" y="1618488"/>
            <a:ext cx="438912" cy="438912"/>
          </a:xfrm>
          <a:prstGeom prst="ellipse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609344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1563511"/>
            <a:ext cx="124104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13365B"/>
                </a:solidFill>
                <a:latin typeface="Aptos"/>
              </a:rPr>
              <a:t>Job Demand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1947672"/>
            <a:ext cx="3798669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C has the highest number of job postings: 25,114.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417320"/>
            <a:ext cx="5394960" cy="150876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26480" y="1417320"/>
            <a:ext cx="73152" cy="1508760"/>
          </a:xfrm>
          <a:prstGeom prst="round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309360" y="1618488"/>
            <a:ext cx="438912" cy="438912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1609344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$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1563511"/>
            <a:ext cx="70654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13365B"/>
                </a:solidFill>
                <a:latin typeface="Aptos"/>
              </a:rPr>
              <a:t>Salary</a:t>
            </a:r>
            <a:endParaRPr sz="1300" b="1" dirty="0">
              <a:solidFill>
                <a:srgbClr val="13365B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76288" y="1947672"/>
            <a:ext cx="4141327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Swift has the highest annual average salary: $130,801.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154680"/>
            <a:ext cx="5394960" cy="150876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02920" y="3154680"/>
            <a:ext cx="73152" cy="1508760"/>
          </a:xfrm>
          <a:prstGeom prst="roundRect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85800" y="3355848"/>
            <a:ext cx="438912" cy="438912"/>
          </a:xfrm>
          <a:prstGeom prst="ellipse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3346704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&lt;/&gt;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2728" y="3300871"/>
            <a:ext cx="194899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13365B"/>
                </a:solidFill>
                <a:latin typeface="Aptos"/>
              </a:rPr>
              <a:t>Programming Trends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2728" y="3685032"/>
            <a:ext cx="4498848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JavaScript leads current usage; JavaScript, SQL and TypeScript show strong future preference.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154680"/>
            <a:ext cx="5394960" cy="150876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126480" y="3154680"/>
            <a:ext cx="73152" cy="1508760"/>
          </a:xfrm>
          <a:prstGeom prst="round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309360" y="3355848"/>
            <a:ext cx="438912" cy="438912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3346704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3300871"/>
            <a:ext cx="159300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13365B"/>
                </a:solidFill>
                <a:latin typeface="Aptos"/>
              </a:rPr>
              <a:t>Database Trends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6289" y="3685032"/>
            <a:ext cx="462991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PostgreSQL leads current usage (25,910) and future preference (26,904).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983480"/>
            <a:ext cx="11018520" cy="960120"/>
          </a:xfrm>
          <a:prstGeom prst="roundRect">
            <a:avLst/>
          </a:prstGeom>
          <a:solidFill>
            <a:srgbClr val="E1F1F9"/>
          </a:solidFill>
          <a:ln>
            <a:solidFill>
              <a:srgbClr val="E1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5140488"/>
            <a:ext cx="1426994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dirty="0">
                <a:solidFill>
                  <a:srgbClr val="13365B"/>
                </a:solidFill>
                <a:latin typeface="Aptos"/>
              </a:rPr>
              <a:t>DEMOGRAPHICS</a:t>
            </a:r>
            <a:endParaRPr sz="1100" b="1" dirty="0">
              <a:solidFill>
                <a:srgbClr val="13365B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057400" y="5149631"/>
            <a:ext cx="7045711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1400" b="1" dirty="0">
                <a:solidFill>
                  <a:srgbClr val="1F3043"/>
                </a:solidFill>
                <a:latin typeface="Aptos"/>
              </a:rPr>
              <a:t>•  </a:t>
            </a:r>
            <a:r>
              <a:rPr sz="1400" b="1" dirty="0">
                <a:solidFill>
                  <a:srgbClr val="1F3043"/>
                </a:solidFill>
                <a:latin typeface="Aptos"/>
              </a:rPr>
              <a:t>Ages 25–34 = 41.3% of respondents  •  Bachelor's degree holders = largest education group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927080" y="-109728"/>
            <a:ext cx="1463040" cy="1143000"/>
          </a:xfrm>
          <a:prstGeom prst="roundRect">
            <a:avLst/>
          </a:prstGeom>
          <a:solidFill>
            <a:srgbClr val="E1F1F9"/>
          </a:solidFill>
          <a:ln>
            <a:solidFill>
              <a:srgbClr val="E1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475720" y="137160"/>
            <a:ext cx="438912" cy="438912"/>
          </a:xfrm>
          <a:prstGeom prst="round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320040"/>
            <a:ext cx="594360" cy="45720"/>
          </a:xfrm>
          <a:prstGeom prst="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81381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 dirty="0">
                <a:solidFill>
                  <a:srgbClr val="13365B"/>
                </a:solidFill>
                <a:latin typeface="Aptos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0467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E758B"/>
                </a:solidFill>
                <a:latin typeface="Aptos"/>
              </a:rPr>
              <a:t>WHY THIS ANALYSIS MATTERS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3365B"/>
          </a:solidFill>
          <a:ln>
            <a:solidFill>
              <a:srgbClr val="13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49110"/>
            <a:ext cx="369364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Aptos"/>
              </a:rPr>
              <a:t>STACK OVERFLOW DEVELOPER SURVEY 2024 | Technology Trends &amp; Demographics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3474720" cy="416052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8640" y="1417320"/>
            <a:ext cx="73152" cy="4160520"/>
          </a:xfrm>
          <a:prstGeom prst="roundRect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31520" y="1618488"/>
            <a:ext cx="438912" cy="438912"/>
          </a:xfrm>
          <a:prstGeom prst="ellipse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609344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1659716"/>
            <a:ext cx="105830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 dirty="0">
                <a:solidFill>
                  <a:srgbClr val="13365B"/>
                </a:solidFill>
                <a:latin typeface="Aptos"/>
              </a:rPr>
              <a:t>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297370"/>
            <a:ext cx="2578608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dirty="0">
                <a:solidFill>
                  <a:srgbClr val="1F3043"/>
                </a:solidFill>
                <a:latin typeface="Aptos"/>
              </a:rPr>
              <a:t>Analyze developer technology trends, job demand, salary patterns, future technology preferences, and respondent demographics.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1417320"/>
            <a:ext cx="3474720" cy="416052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370832" y="1417320"/>
            <a:ext cx="73152" cy="4160520"/>
          </a:xfrm>
          <a:prstGeom prst="round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553712" y="1618488"/>
            <a:ext cx="438912" cy="438912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53712" y="1609344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1375" y="1636389"/>
            <a:ext cx="1879361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 dirty="0">
                <a:solidFill>
                  <a:srgbClr val="13365B"/>
                </a:solidFill>
                <a:latin typeface="Aptos"/>
              </a:rPr>
              <a:t>Target</a:t>
            </a:r>
            <a:r>
              <a:rPr sz="1300" b="1" dirty="0">
                <a:solidFill>
                  <a:srgbClr val="13365B"/>
                </a:solidFill>
                <a:latin typeface="Aptos"/>
              </a:rPr>
              <a:t> </a:t>
            </a:r>
            <a:r>
              <a:rPr sz="2000" b="1" dirty="0">
                <a:solidFill>
                  <a:srgbClr val="13365B"/>
                </a:solidFill>
                <a:latin typeface="Aptos"/>
              </a:rPr>
              <a:t>Audience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270837"/>
            <a:ext cx="2578608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Technology recruiters, hiring managers, and organizations planning future technology skills.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1417320"/>
            <a:ext cx="3474720" cy="416052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193024" y="1417320"/>
            <a:ext cx="73152" cy="4160520"/>
          </a:xfrm>
          <a:prstGeom prst="roundRect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375904" y="1618488"/>
            <a:ext cx="438912" cy="438912"/>
          </a:xfrm>
          <a:prstGeom prst="ellipse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75904" y="1609344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6765" y="1628624"/>
            <a:ext cx="779637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 dirty="0">
                <a:solidFill>
                  <a:srgbClr val="13365B"/>
                </a:solidFill>
                <a:latin typeface="Aptos"/>
              </a:rPr>
              <a:t>Value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9193" y="2297369"/>
            <a:ext cx="2532888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Identify in-demand technologies and emerging preferences to support data-driven technology and workforce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927080" y="-109728"/>
            <a:ext cx="1463040" cy="1143000"/>
          </a:xfrm>
          <a:prstGeom prst="roundRect">
            <a:avLst/>
          </a:prstGeom>
          <a:solidFill>
            <a:srgbClr val="E1F1F9"/>
          </a:solidFill>
          <a:ln>
            <a:solidFill>
              <a:srgbClr val="E1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475720" y="137160"/>
            <a:ext cx="438912" cy="438912"/>
          </a:xfrm>
          <a:prstGeom prst="round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320040"/>
            <a:ext cx="594360" cy="45720"/>
          </a:xfrm>
          <a:prstGeom prst="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81381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3365B"/>
                </a:solidFill>
                <a:latin typeface="Aptos"/>
              </a:rP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0467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E758B"/>
                </a:solidFill>
                <a:latin typeface="Aptos"/>
              </a:rPr>
              <a:t>HOW THE ANALYSIS WAS DONE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3365B"/>
          </a:solidFill>
          <a:ln>
            <a:solidFill>
              <a:srgbClr val="13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49110"/>
            <a:ext cx="369364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Aptos"/>
              </a:rPr>
              <a:t>STACK OVERFLOW DEVELOPER SURVEY 2024 | Technology Trends &amp; Demographics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2697480" cy="443484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1554367"/>
            <a:ext cx="2032544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13365B"/>
                </a:solidFill>
                <a:latin typeface="Aptos"/>
              </a:rPr>
              <a:t>01  DATA COLLECTION</a:t>
            </a:r>
          </a:p>
        </p:txBody>
      </p:sp>
      <p:sp>
        <p:nvSpPr>
          <p:cNvPr id="12" name="Oval 11"/>
          <p:cNvSpPr/>
          <p:nvPr/>
        </p:nvSpPr>
        <p:spPr>
          <a:xfrm>
            <a:off x="722376" y="2020824"/>
            <a:ext cx="100584" cy="100584"/>
          </a:xfrm>
          <a:prstGeom prst="ellipse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1956816"/>
            <a:ext cx="2359151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Stack Overflow Developer Survey</a:t>
            </a:r>
          </a:p>
        </p:txBody>
      </p:sp>
      <p:sp>
        <p:nvSpPr>
          <p:cNvPr id="14" name="Oval 13"/>
          <p:cNvSpPr/>
          <p:nvPr/>
        </p:nvSpPr>
        <p:spPr>
          <a:xfrm>
            <a:off x="722376" y="2532888"/>
            <a:ext cx="100584" cy="100584"/>
          </a:xfrm>
          <a:prstGeom prst="ellipse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2468880"/>
            <a:ext cx="23774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Job API → Job-posting data</a:t>
            </a:r>
            <a:r>
              <a:rPr lang="en-US" sz="1400" b="0" dirty="0">
                <a:solidFill>
                  <a:srgbClr val="1F3043"/>
                </a:solidFill>
                <a:latin typeface="Aptos"/>
              </a:rPr>
              <a:t> Analysis</a:t>
            </a:r>
            <a:endParaRPr sz="1400" b="0" dirty="0">
              <a:solidFill>
                <a:srgbClr val="1F3043"/>
              </a:solidFill>
              <a:latin typeface="Apto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722376" y="3044952"/>
            <a:ext cx="100584" cy="100584"/>
          </a:xfrm>
          <a:prstGeom prst="ellipse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9" y="2980944"/>
            <a:ext cx="23774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Web scraping → salary data</a:t>
            </a:r>
            <a:r>
              <a:rPr lang="en-US" sz="1400" b="0" dirty="0">
                <a:solidFill>
                  <a:srgbClr val="1F3043"/>
                </a:solidFill>
                <a:latin typeface="Aptos"/>
              </a:rPr>
              <a:t> Analysis</a:t>
            </a:r>
            <a:endParaRPr sz="1400" b="0" dirty="0">
              <a:solidFill>
                <a:srgbClr val="1F3043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401568" y="1417320"/>
            <a:ext cx="2697480" cy="443484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3602736" y="1554367"/>
            <a:ext cx="158569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13365B"/>
                </a:solidFill>
                <a:latin typeface="Aptos"/>
              </a:rPr>
              <a:t>02  WRANGLING</a:t>
            </a:r>
          </a:p>
        </p:txBody>
      </p:sp>
      <p:sp>
        <p:nvSpPr>
          <p:cNvPr id="20" name="Oval 19"/>
          <p:cNvSpPr/>
          <p:nvPr/>
        </p:nvSpPr>
        <p:spPr>
          <a:xfrm>
            <a:off x="3621024" y="2020824"/>
            <a:ext cx="100584" cy="100584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31337" y="1956816"/>
            <a:ext cx="2075688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>
                <a:solidFill>
                  <a:srgbClr val="1F3043"/>
                </a:solidFill>
                <a:latin typeface="Aptos"/>
              </a:rPr>
              <a:t>SQL for data querying &amp; extraction</a:t>
            </a:r>
          </a:p>
        </p:txBody>
      </p:sp>
      <p:sp>
        <p:nvSpPr>
          <p:cNvPr id="22" name="Oval 21"/>
          <p:cNvSpPr/>
          <p:nvPr/>
        </p:nvSpPr>
        <p:spPr>
          <a:xfrm>
            <a:off x="3621024" y="2633472"/>
            <a:ext cx="100584" cy="100584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21286" y="3086034"/>
            <a:ext cx="2531666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Handle missing values and duplicates</a:t>
            </a:r>
            <a:endParaRPr lang="en-US" sz="1400" b="0" dirty="0">
              <a:solidFill>
                <a:srgbClr val="1F3043"/>
              </a:solidFill>
              <a:latin typeface="Aptos"/>
            </a:endParaRPr>
          </a:p>
          <a:p>
            <a:pPr algn="l"/>
            <a:endParaRPr lang="en-US" sz="1400" dirty="0">
              <a:solidFill>
                <a:srgbClr val="1F3043"/>
              </a:solidFill>
              <a:latin typeface="Aptos"/>
            </a:endParaRPr>
          </a:p>
          <a:p>
            <a:pPr algn="l"/>
            <a:endParaRPr sz="1400" b="0" dirty="0">
              <a:solidFill>
                <a:srgbClr val="1F3043"/>
              </a:solidFill>
              <a:latin typeface="Apto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3615546" y="3192262"/>
            <a:ext cx="100584" cy="100584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31337" y="3654081"/>
            <a:ext cx="2075688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Cleaning, transformation and normalization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0216" y="1417320"/>
            <a:ext cx="2697480" cy="443484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01383" y="1554367"/>
            <a:ext cx="83548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13365B"/>
                </a:solidFill>
                <a:latin typeface="Aptos"/>
              </a:rPr>
              <a:t>03  EDA</a:t>
            </a:r>
          </a:p>
        </p:txBody>
      </p:sp>
      <p:sp>
        <p:nvSpPr>
          <p:cNvPr id="28" name="Oval 27"/>
          <p:cNvSpPr/>
          <p:nvPr/>
        </p:nvSpPr>
        <p:spPr>
          <a:xfrm>
            <a:off x="6519672" y="2020824"/>
            <a:ext cx="100584" cy="100584"/>
          </a:xfrm>
          <a:prstGeom prst="ellipse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29983" y="1956816"/>
            <a:ext cx="235915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dirty="0">
                <a:solidFill>
                  <a:srgbClr val="1F3043"/>
                </a:solidFill>
                <a:latin typeface="Aptos"/>
              </a:rPr>
              <a:t>Analyze </a:t>
            </a:r>
            <a:r>
              <a:rPr sz="1400" b="0" dirty="0">
                <a:solidFill>
                  <a:srgbClr val="1F3043"/>
                </a:solidFill>
                <a:latin typeface="Aptos"/>
              </a:rPr>
              <a:t>Distributions and outliers</a:t>
            </a:r>
          </a:p>
        </p:txBody>
      </p:sp>
      <p:sp>
        <p:nvSpPr>
          <p:cNvPr id="30" name="Oval 29"/>
          <p:cNvSpPr/>
          <p:nvPr/>
        </p:nvSpPr>
        <p:spPr>
          <a:xfrm>
            <a:off x="6519672" y="2532888"/>
            <a:ext cx="100584" cy="100584"/>
          </a:xfrm>
          <a:prstGeom prst="ellipse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29983" y="2468880"/>
            <a:ext cx="2267713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dirty="0">
                <a:solidFill>
                  <a:srgbClr val="1F3043"/>
                </a:solidFill>
                <a:latin typeface="Aptos"/>
              </a:rPr>
              <a:t>Examine </a:t>
            </a:r>
            <a:r>
              <a:rPr sz="1400" b="0" dirty="0">
                <a:solidFill>
                  <a:srgbClr val="1F3043"/>
                </a:solidFill>
                <a:latin typeface="Aptos"/>
              </a:rPr>
              <a:t>Relationships and correlations</a:t>
            </a:r>
          </a:p>
        </p:txBody>
      </p:sp>
      <p:sp>
        <p:nvSpPr>
          <p:cNvPr id="32" name="Oval 31"/>
          <p:cNvSpPr/>
          <p:nvPr/>
        </p:nvSpPr>
        <p:spPr>
          <a:xfrm>
            <a:off x="6519672" y="3044952"/>
            <a:ext cx="100584" cy="100584"/>
          </a:xfrm>
          <a:prstGeom prst="ellipse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29983" y="2980944"/>
            <a:ext cx="2075688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dirty="0">
                <a:solidFill>
                  <a:srgbClr val="1F3043"/>
                </a:solidFill>
                <a:latin typeface="Aptos"/>
              </a:rPr>
              <a:t>Calculate </a:t>
            </a:r>
            <a:r>
              <a:rPr sz="1400" b="0" dirty="0">
                <a:solidFill>
                  <a:srgbClr val="1F3043"/>
                </a:solidFill>
                <a:latin typeface="Aptos"/>
              </a:rPr>
              <a:t>Summary statistics and grouped measures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98864" y="1417320"/>
            <a:ext cx="2697480" cy="443484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00032" y="1554367"/>
            <a:ext cx="1790362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13365B"/>
                </a:solidFill>
                <a:latin typeface="Aptos"/>
              </a:rPr>
              <a:t>04  VISUALIZATION</a:t>
            </a:r>
          </a:p>
        </p:txBody>
      </p:sp>
      <p:sp>
        <p:nvSpPr>
          <p:cNvPr id="36" name="Oval 35"/>
          <p:cNvSpPr/>
          <p:nvPr/>
        </p:nvSpPr>
        <p:spPr>
          <a:xfrm>
            <a:off x="9418320" y="2020824"/>
            <a:ext cx="100584" cy="100584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28633" y="1956816"/>
            <a:ext cx="2212847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Matplotlib / Seaborn</a:t>
            </a:r>
            <a:r>
              <a:rPr lang="en-US" sz="1400" b="0" dirty="0">
                <a:solidFill>
                  <a:srgbClr val="1F3043"/>
                </a:solidFill>
                <a:latin typeface="Aptos"/>
              </a:rPr>
              <a:t> for Analysis Visualization</a:t>
            </a:r>
            <a:endParaRPr sz="1400" b="0" dirty="0">
              <a:solidFill>
                <a:srgbClr val="1F3043"/>
              </a:solidFill>
              <a:latin typeface="Aptos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9418320" y="2532888"/>
            <a:ext cx="100584" cy="100584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628632" y="2468880"/>
            <a:ext cx="2697481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IBM Cognos Analytics</a:t>
            </a:r>
            <a:r>
              <a:rPr lang="en-US" sz="1400" b="0" dirty="0">
                <a:solidFill>
                  <a:srgbClr val="1F3043"/>
                </a:solidFill>
                <a:latin typeface="Aptos"/>
              </a:rPr>
              <a:t> for interactive Dashboard</a:t>
            </a:r>
            <a:endParaRPr sz="1400" b="0" dirty="0">
              <a:solidFill>
                <a:srgbClr val="1F3043"/>
              </a:solidFill>
              <a:latin typeface="Apto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9418320" y="3044952"/>
            <a:ext cx="100584" cy="100584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28633" y="2980944"/>
            <a:ext cx="2212848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PowerPoint</a:t>
            </a:r>
            <a:r>
              <a:rPr lang="en-US" sz="1400" b="0" dirty="0">
                <a:solidFill>
                  <a:srgbClr val="1F3043"/>
                </a:solidFill>
                <a:latin typeface="Aptos"/>
              </a:rPr>
              <a:t> for presenting findings</a:t>
            </a:r>
            <a:endParaRPr sz="1400" b="0" dirty="0">
              <a:solidFill>
                <a:srgbClr val="1F3043"/>
              </a:solidFill>
              <a:latin typeface="Apto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CC17BC-FCF9-4946-9BB6-A330262AFD6A}"/>
              </a:ext>
            </a:extLst>
          </p:cNvPr>
          <p:cNvSpPr txBox="1"/>
          <p:nvPr/>
        </p:nvSpPr>
        <p:spPr>
          <a:xfrm>
            <a:off x="3821286" y="2520238"/>
            <a:ext cx="163433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1F3043"/>
                </a:solidFill>
                <a:latin typeface="Aptos"/>
              </a:rPr>
              <a:t>Python &amp; Pandas for data cleaning</a:t>
            </a:r>
          </a:p>
          <a:p>
            <a:endParaRPr lang="en-US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81E81BC-C39A-4B9C-BD9C-1BAC288BCF11}"/>
              </a:ext>
            </a:extLst>
          </p:cNvPr>
          <p:cNvSpPr/>
          <p:nvPr/>
        </p:nvSpPr>
        <p:spPr>
          <a:xfrm>
            <a:off x="3610072" y="3762756"/>
            <a:ext cx="100584" cy="100584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927080" y="-109728"/>
            <a:ext cx="1463040" cy="1143000"/>
          </a:xfrm>
          <a:prstGeom prst="roundRect">
            <a:avLst/>
          </a:prstGeom>
          <a:solidFill>
            <a:srgbClr val="E1F1F9"/>
          </a:solidFill>
          <a:ln>
            <a:solidFill>
              <a:srgbClr val="E1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475720" y="137160"/>
            <a:ext cx="438912" cy="438912"/>
          </a:xfrm>
          <a:prstGeom prst="round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320040"/>
            <a:ext cx="594360" cy="45720"/>
          </a:xfrm>
          <a:prstGeom prst="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81381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 dirty="0">
                <a:solidFill>
                  <a:srgbClr val="13365B"/>
                </a:solidFill>
                <a:latin typeface="Aptos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10745"/>
            <a:ext cx="1511952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 dirty="0">
                <a:solidFill>
                  <a:srgbClr val="5E758B"/>
                </a:solidFill>
                <a:latin typeface="Aptos"/>
              </a:rPr>
              <a:t>KEY FINDINGS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3365B"/>
          </a:solidFill>
          <a:ln>
            <a:solidFill>
              <a:srgbClr val="13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49110"/>
            <a:ext cx="369364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Aptos"/>
              </a:rPr>
              <a:t>STACK OVERFLOW DEVELOPER SURVEY 2024 | Technology Trends &amp; Demographics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349240" cy="132588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73152" cy="1325880"/>
          </a:xfrm>
          <a:prstGeom prst="roundRect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5800" y="1618488"/>
            <a:ext cx="438912" cy="438912"/>
          </a:xfrm>
          <a:prstGeom prst="ellipse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609344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1548122"/>
            <a:ext cx="1257204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dirty="0">
                <a:solidFill>
                  <a:srgbClr val="13365B"/>
                </a:solidFill>
                <a:latin typeface="Aptos"/>
              </a:rPr>
              <a:t>Job 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1947672"/>
            <a:ext cx="3229602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C leads job postings with 25,114 postings.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417320"/>
            <a:ext cx="5349240" cy="132588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72200" y="1417320"/>
            <a:ext cx="73152" cy="1325880"/>
          </a:xfrm>
          <a:prstGeom prst="round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355080" y="1618488"/>
            <a:ext cx="438912" cy="438912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1609344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$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8" y="1548122"/>
            <a:ext cx="769185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dirty="0">
                <a:solidFill>
                  <a:srgbClr val="13365B"/>
                </a:solidFill>
                <a:latin typeface="Aptos"/>
              </a:rPr>
              <a:t>Salary</a:t>
            </a:r>
            <a:endParaRPr sz="1300" b="1" dirty="0">
              <a:solidFill>
                <a:srgbClr val="13365B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22008" y="1947672"/>
            <a:ext cx="4279120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Swift has the highest annual average salary at $130,801.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971800"/>
            <a:ext cx="5349240" cy="132588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02920" y="2971800"/>
            <a:ext cx="73152" cy="1325880"/>
          </a:xfrm>
          <a:prstGeom prst="roundRect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85800" y="3172968"/>
            <a:ext cx="438912" cy="438912"/>
          </a:xfrm>
          <a:prstGeom prst="ellipse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3163824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&lt;/&gt;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2728" y="3102602"/>
            <a:ext cx="1945661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dirty="0">
                <a:solidFill>
                  <a:srgbClr val="13365B"/>
                </a:solidFill>
                <a:latin typeface="Aptos"/>
              </a:rPr>
              <a:t>Technology Trends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2729" y="3502152"/>
            <a:ext cx="438296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JavaScript leads current usage; JavaScript, SQL and TypeScript show strong future preference.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2971800"/>
            <a:ext cx="5349240" cy="132588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172200" y="2971800"/>
            <a:ext cx="73152" cy="1325880"/>
          </a:xfrm>
          <a:prstGeom prst="round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355080" y="3172968"/>
            <a:ext cx="438912" cy="438912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3163824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2008" y="3102602"/>
            <a:ext cx="1546962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dirty="0">
                <a:solidFill>
                  <a:srgbClr val="13365B"/>
                </a:solidFill>
                <a:latin typeface="Aptos"/>
              </a:rPr>
              <a:t>Demographics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22008" y="3502152"/>
            <a:ext cx="4453127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Ages 25–34 are the largest group at 41.3%; Bachelor's degree holders are the largest group.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11680" y="4892040"/>
            <a:ext cx="8183879" cy="658368"/>
          </a:xfrm>
          <a:prstGeom prst="roundRect">
            <a:avLst/>
          </a:prstGeom>
          <a:solidFill>
            <a:srgbClr val="13365B"/>
          </a:solidFill>
          <a:ln>
            <a:solidFill>
              <a:srgbClr val="13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085856" y="5024515"/>
            <a:ext cx="4035527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DATA → PATTERNS → INSIGHTS → DECISIONS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927080" y="-109728"/>
            <a:ext cx="1463040" cy="1143000"/>
          </a:xfrm>
          <a:prstGeom prst="roundRect">
            <a:avLst/>
          </a:prstGeom>
          <a:solidFill>
            <a:srgbClr val="E1F1F9"/>
          </a:solidFill>
          <a:ln>
            <a:solidFill>
              <a:srgbClr val="E1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475720" y="137160"/>
            <a:ext cx="438912" cy="438912"/>
          </a:xfrm>
          <a:prstGeom prst="round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320040"/>
            <a:ext cx="594360" cy="45720"/>
          </a:xfrm>
          <a:prstGeom prst="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81381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3365B"/>
                </a:solidFill>
                <a:latin typeface="Aptos"/>
              </a:rPr>
              <a:t>JOB POSTINGS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0467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E758B"/>
                </a:solidFill>
                <a:latin typeface="Aptos"/>
              </a:rPr>
              <a:t>TOP LANGUAGES BY NUMBER OF JOB POSTINGS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3365B"/>
          </a:solidFill>
          <a:ln>
            <a:solidFill>
              <a:srgbClr val="13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49110"/>
            <a:ext cx="369364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Aptos"/>
              </a:rPr>
              <a:t>STACK OVERFLOW DEVELOPER SURVEY 2024 | Technology Trends &amp; Demographics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554480"/>
            <a:ext cx="3246120" cy="411480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13648" y="1801255"/>
            <a:ext cx="1478162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13365B"/>
                </a:solidFill>
                <a:latin typeface="Aptos"/>
              </a:rPr>
              <a:t>KEY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2304288"/>
            <a:ext cx="256032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C dominates the job-posting data, while Java, JavaScript and Python show comparatively strong demand.</a:t>
            </a:r>
            <a:endParaRPr lang="en-US" sz="1400" b="0" dirty="0">
              <a:solidFill>
                <a:srgbClr val="1F3043"/>
              </a:solidFill>
              <a:latin typeface="Aptos"/>
            </a:endParaRPr>
          </a:p>
          <a:p>
            <a:r>
              <a:rPr lang="en-US" sz="1400" dirty="0"/>
              <a:t>Source: Job-posting API dataset</a:t>
            </a:r>
            <a:endParaRPr sz="1400" b="0" dirty="0">
              <a:solidFill>
                <a:srgbClr val="1F3043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613648" y="4526280"/>
            <a:ext cx="2560320" cy="685800"/>
          </a:xfrm>
          <a:prstGeom prst="roundRect">
            <a:avLst/>
          </a:prstGeom>
          <a:solidFill>
            <a:srgbClr val="E1F1F9"/>
          </a:solidFill>
          <a:ln>
            <a:solidFill>
              <a:srgbClr val="E1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7936" y="4666450"/>
            <a:ext cx="1095172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 dirty="0">
                <a:solidFill>
                  <a:srgbClr val="2569B1"/>
                </a:solidFill>
                <a:latin typeface="Aptos"/>
              </a:rPr>
              <a:t>C  </a:t>
            </a:r>
            <a:r>
              <a:rPr lang="en-US" sz="1500" b="1" dirty="0">
                <a:solidFill>
                  <a:srgbClr val="2569B1"/>
                </a:solidFill>
                <a:latin typeface="Aptos"/>
              </a:rPr>
              <a:t>= </a:t>
            </a:r>
            <a:r>
              <a:rPr sz="1500" b="1" dirty="0">
                <a:solidFill>
                  <a:srgbClr val="2569B1"/>
                </a:solidFill>
                <a:latin typeface="Aptos"/>
              </a:rPr>
              <a:t> 25,114</a:t>
            </a:r>
          </a:p>
        </p:txBody>
      </p:sp>
      <p:pic>
        <p:nvPicPr>
          <p:cNvPr id="16" name="Content Placeholder 4">
            <a:extLst>
              <a:ext uri="{FF2B5EF4-FFF2-40B4-BE49-F238E27FC236}">
                <a16:creationId xmlns:a16="http://schemas.microsoft.com/office/drawing/2014/main" id="{5A4041DB-CB4F-4741-89F9-4ADE4AE7F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093" y="1554480"/>
            <a:ext cx="7019517" cy="44626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927080" y="-109728"/>
            <a:ext cx="1463040" cy="1143000"/>
          </a:xfrm>
          <a:prstGeom prst="roundRect">
            <a:avLst/>
          </a:prstGeom>
          <a:solidFill>
            <a:srgbClr val="E1F1F9"/>
          </a:solidFill>
          <a:ln>
            <a:solidFill>
              <a:srgbClr val="E1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475720" y="137160"/>
            <a:ext cx="438912" cy="438912"/>
          </a:xfrm>
          <a:prstGeom prst="round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320040"/>
            <a:ext cx="594360" cy="45720"/>
          </a:xfrm>
          <a:prstGeom prst="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81381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3365B"/>
                </a:solidFill>
                <a:latin typeface="Aptos"/>
              </a:rPr>
              <a:t>POPULAR LANGUAGES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0467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E758B"/>
                </a:solidFill>
                <a:latin typeface="Aptos"/>
              </a:rPr>
              <a:t>USAGE, SALARY &amp; INDUSTRY RELEVANCE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3365B"/>
          </a:solidFill>
          <a:ln>
            <a:solidFill>
              <a:srgbClr val="13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49110"/>
            <a:ext cx="369364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Aptos"/>
              </a:rPr>
              <a:t>STACK OVERFLOW DEVELOPER SURVEY 2024 | Technology Trends &amp; Demographics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463040"/>
            <a:ext cx="3154680" cy="429768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41080" y="1758434"/>
            <a:ext cx="1843966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dirty="0">
                <a:solidFill>
                  <a:srgbClr val="13365B"/>
                </a:solidFill>
                <a:latin typeface="Aptos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331720"/>
            <a:ext cx="242316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Several widely used languages, including Python, JavaScript and Java, combine strong salaries with broad industry relevance.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4775507"/>
            <a:ext cx="2528577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 dirty="0">
                <a:solidFill>
                  <a:srgbClr val="17707E"/>
                </a:solidFill>
                <a:latin typeface="Aptos"/>
              </a:rPr>
              <a:t>Skill choice should balance
market demand + salary + relevance.</a:t>
            </a:r>
          </a:p>
        </p:txBody>
      </p:sp>
      <p:pic>
        <p:nvPicPr>
          <p:cNvPr id="15" name="Content Placeholder 4">
            <a:extLst>
              <a:ext uri="{FF2B5EF4-FFF2-40B4-BE49-F238E27FC236}">
                <a16:creationId xmlns:a16="http://schemas.microsoft.com/office/drawing/2014/main" id="{A63D24AA-1762-4711-93D0-0A0C2A843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22" y="1463040"/>
            <a:ext cx="7741598" cy="44572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927080" y="-109728"/>
            <a:ext cx="1463040" cy="1143000"/>
          </a:xfrm>
          <a:prstGeom prst="roundRect">
            <a:avLst/>
          </a:prstGeom>
          <a:solidFill>
            <a:srgbClr val="E1F1F9"/>
          </a:solidFill>
          <a:ln>
            <a:solidFill>
              <a:srgbClr val="E1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475720" y="137160"/>
            <a:ext cx="438912" cy="438912"/>
          </a:xfrm>
          <a:prstGeom prst="round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320040"/>
            <a:ext cx="594360" cy="45720"/>
          </a:xfrm>
          <a:prstGeom prst="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81381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3365B"/>
                </a:solidFill>
                <a:latin typeface="Aptos"/>
              </a:rPr>
              <a:t>PROGRAMMING LANGUAGE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0467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 dirty="0">
                <a:solidFill>
                  <a:srgbClr val="5E758B"/>
                </a:solidFill>
                <a:latin typeface="Aptos"/>
              </a:rPr>
              <a:t>CURRENT USAGE VS. FUTURE PREFERENCE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3365B"/>
          </a:solidFill>
          <a:ln>
            <a:solidFill>
              <a:srgbClr val="13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49110"/>
            <a:ext cx="369364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Aptos"/>
              </a:rPr>
              <a:t>STACK OVERFLOW DEVELOPER SURVEY 2024 | Technology Trends &amp; Demographics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76" y="1402664"/>
            <a:ext cx="3533083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5E758B"/>
                </a:solidFill>
                <a:latin typeface="Aptos"/>
              </a:rPr>
              <a:t>TOP 10 LANGUAGES DEVELOPERS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7" y="1402077"/>
            <a:ext cx="500464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5E758B"/>
                </a:solidFill>
                <a:latin typeface="Aptos"/>
              </a:rPr>
              <a:t>TOP 10 LANGUAGES DEVELOPERS WANT TO WORK WITH</a:t>
            </a:r>
          </a:p>
        </p:txBody>
      </p:sp>
      <p:pic>
        <p:nvPicPr>
          <p:cNvPr id="14" name="Content Placeholder 6">
            <a:extLst>
              <a:ext uri="{FF2B5EF4-FFF2-40B4-BE49-F238E27FC236}">
                <a16:creationId xmlns:a16="http://schemas.microsoft.com/office/drawing/2014/main" id="{B4E176F2-6A1D-4663-A0BB-9C3F0850F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76" y="1992511"/>
            <a:ext cx="5773407" cy="387793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5" name="Content Placeholder 7">
            <a:extLst>
              <a:ext uri="{FF2B5EF4-FFF2-40B4-BE49-F238E27FC236}">
                <a16:creationId xmlns:a16="http://schemas.microsoft.com/office/drawing/2014/main" id="{550A4C67-F94F-4344-8101-CD4DFC5D7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619" y="1977981"/>
            <a:ext cx="5773406" cy="387793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927080" y="-109728"/>
            <a:ext cx="1463040" cy="1143000"/>
          </a:xfrm>
          <a:prstGeom prst="roundRect">
            <a:avLst/>
          </a:prstGeom>
          <a:solidFill>
            <a:srgbClr val="E1F1F9"/>
          </a:solidFill>
          <a:ln>
            <a:solidFill>
              <a:srgbClr val="E1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475720" y="137160"/>
            <a:ext cx="438912" cy="438912"/>
          </a:xfrm>
          <a:prstGeom prst="round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320040"/>
            <a:ext cx="594360" cy="45720"/>
          </a:xfrm>
          <a:prstGeom prst="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81381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3365B"/>
                </a:solidFill>
                <a:latin typeface="Aptos"/>
              </a:rPr>
              <a:t>PROGRAMMING LANGUAGE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0467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E758B"/>
                </a:solidFill>
                <a:latin typeface="Aptos"/>
              </a:rPr>
              <a:t>FINDINGS &amp; IMPLICATIONS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3365B"/>
          </a:solidFill>
          <a:ln>
            <a:solidFill>
              <a:srgbClr val="13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49110"/>
            <a:ext cx="369364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Aptos"/>
              </a:rPr>
              <a:t>STACK OVERFLOW DEVELOPER SURVEY 2024 | Technology Trends &amp; Demographics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17320"/>
            <a:ext cx="5349240" cy="452628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1554367"/>
            <a:ext cx="101662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13365B"/>
                </a:solidFill>
                <a:latin typeface="Aptos"/>
              </a:rPr>
              <a:t>FINDINGS</a:t>
            </a:r>
          </a:p>
        </p:txBody>
      </p:sp>
      <p:sp>
        <p:nvSpPr>
          <p:cNvPr id="12" name="Oval 11"/>
          <p:cNvSpPr/>
          <p:nvPr/>
        </p:nvSpPr>
        <p:spPr>
          <a:xfrm>
            <a:off x="813816" y="2020824"/>
            <a:ext cx="100584" cy="100584"/>
          </a:xfrm>
          <a:prstGeom prst="ellipse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1956816"/>
            <a:ext cx="4214872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JavaScript leads both current usage and future interest.</a:t>
            </a:r>
          </a:p>
        </p:txBody>
      </p:sp>
      <p:sp>
        <p:nvSpPr>
          <p:cNvPr id="14" name="Oval 13"/>
          <p:cNvSpPr/>
          <p:nvPr/>
        </p:nvSpPr>
        <p:spPr>
          <a:xfrm>
            <a:off x="813816" y="2532888"/>
            <a:ext cx="100584" cy="100584"/>
          </a:xfrm>
          <a:prstGeom prst="ellipse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2468880"/>
            <a:ext cx="4497450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SQL, TypeScript and HTML/CSS show strong future interest.</a:t>
            </a:r>
          </a:p>
        </p:txBody>
      </p:sp>
      <p:sp>
        <p:nvSpPr>
          <p:cNvPr id="16" name="Oval 15"/>
          <p:cNvSpPr/>
          <p:nvPr/>
        </p:nvSpPr>
        <p:spPr>
          <a:xfrm>
            <a:off x="813816" y="3044952"/>
            <a:ext cx="100584" cy="100584"/>
          </a:xfrm>
          <a:prstGeom prst="ellipse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2980944"/>
            <a:ext cx="3966470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Python remains highly relevant across both periods.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417320"/>
            <a:ext cx="5349240" cy="452628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93407" y="1569183"/>
            <a:ext cx="141417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13365B"/>
                </a:solidFill>
                <a:latin typeface="Aptos"/>
              </a:rPr>
              <a:t>IMPLICATIONS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020824"/>
            <a:ext cx="100584" cy="100584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93407" y="1956816"/>
            <a:ext cx="3779496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JavaScript should remain a key development skill.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2532888"/>
            <a:ext cx="100584" cy="100584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93407" y="2468880"/>
            <a:ext cx="4782313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Broader skills across complementary technologies can improve career opportunities.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044952"/>
            <a:ext cx="100584" cy="100584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93407" y="2980944"/>
            <a:ext cx="4548553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Python is a strong long-term language to learn and develop.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927080" y="-109728"/>
            <a:ext cx="1463040" cy="1143000"/>
          </a:xfrm>
          <a:prstGeom prst="roundRect">
            <a:avLst/>
          </a:prstGeom>
          <a:solidFill>
            <a:srgbClr val="E1F1F9"/>
          </a:solidFill>
          <a:ln>
            <a:solidFill>
              <a:srgbClr val="E1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475720" y="137160"/>
            <a:ext cx="438912" cy="438912"/>
          </a:xfrm>
          <a:prstGeom prst="round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320040"/>
            <a:ext cx="594360" cy="45720"/>
          </a:xfrm>
          <a:prstGeom prst="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81381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3365B"/>
                </a:solidFill>
                <a:latin typeface="Aptos"/>
              </a:rPr>
              <a:t>DATABASE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0467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E758B"/>
                </a:solidFill>
                <a:latin typeface="Aptos"/>
              </a:rPr>
              <a:t>CURRENT USAGE VS. FUTURE PREFERENCE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3365B"/>
          </a:solidFill>
          <a:ln>
            <a:solidFill>
              <a:srgbClr val="13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49110"/>
            <a:ext cx="369364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Aptos"/>
              </a:rPr>
              <a:t>STACK OVERFLOW DEVELOPER SURVEY 2024 | Technology Trends &amp; Demographics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9939" y="1385923"/>
            <a:ext cx="371473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5E758B"/>
                </a:solidFill>
                <a:latin typeface="Aptos"/>
              </a:rPr>
              <a:t>TOP 10 DATABASES USED BY DEVELOPERS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1807" y="1431538"/>
            <a:ext cx="4923977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5E758B"/>
                </a:solidFill>
                <a:latin typeface="Aptos"/>
              </a:rPr>
              <a:t>TOP 10 DATABASES DEVELOPERS WANT TO WORK WITH</a:t>
            </a:r>
          </a:p>
        </p:txBody>
      </p:sp>
      <p:pic>
        <p:nvPicPr>
          <p:cNvPr id="14" name="Content Placeholder 6">
            <a:extLst>
              <a:ext uri="{FF2B5EF4-FFF2-40B4-BE49-F238E27FC236}">
                <a16:creationId xmlns:a16="http://schemas.microsoft.com/office/drawing/2014/main" id="{34B47E68-EBF4-45C6-A004-BCB294498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38046"/>
            <a:ext cx="5402051" cy="344942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5" name="Content Placeholder 7">
            <a:extLst>
              <a:ext uri="{FF2B5EF4-FFF2-40B4-BE49-F238E27FC236}">
                <a16:creationId xmlns:a16="http://schemas.microsoft.com/office/drawing/2014/main" id="{BAEA3870-2CB7-4F2B-BBA1-CB7A42623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904" y="2038046"/>
            <a:ext cx="6099263" cy="344942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927080" y="-109728"/>
            <a:ext cx="1463040" cy="1143000"/>
          </a:xfrm>
          <a:prstGeom prst="roundRect">
            <a:avLst/>
          </a:prstGeom>
          <a:solidFill>
            <a:srgbClr val="E1F1F9"/>
          </a:solidFill>
          <a:ln>
            <a:solidFill>
              <a:srgbClr val="E1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475720" y="137160"/>
            <a:ext cx="438912" cy="438912"/>
          </a:xfrm>
          <a:prstGeom prst="round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320040"/>
            <a:ext cx="594360" cy="45720"/>
          </a:xfrm>
          <a:prstGeom prst="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81381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3365B"/>
                </a:solidFill>
                <a:latin typeface="Aptos"/>
              </a:rPr>
              <a:t>DATABASE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0467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E758B"/>
                </a:solidFill>
                <a:latin typeface="Aptos"/>
              </a:rPr>
              <a:t>FINDINGS &amp; IMPLICATIONS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3365B"/>
          </a:solidFill>
          <a:ln>
            <a:solidFill>
              <a:srgbClr val="13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49110"/>
            <a:ext cx="369364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Aptos"/>
              </a:rPr>
              <a:t>STACK OVERFLOW DEVELOPER SURVEY 2024 | Technology Trends &amp; Demographics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17320"/>
            <a:ext cx="5349240" cy="452628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590830"/>
            <a:ext cx="101662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13365B"/>
                </a:solidFill>
                <a:latin typeface="Aptos"/>
              </a:rPr>
              <a:t>FINDINGS</a:t>
            </a:r>
          </a:p>
        </p:txBody>
      </p:sp>
      <p:sp>
        <p:nvSpPr>
          <p:cNvPr id="12" name="Oval 11"/>
          <p:cNvSpPr/>
          <p:nvPr/>
        </p:nvSpPr>
        <p:spPr>
          <a:xfrm>
            <a:off x="813816" y="2020824"/>
            <a:ext cx="100584" cy="100584"/>
          </a:xfrm>
          <a:prstGeom prst="ellipse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1956816"/>
            <a:ext cx="4317464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PostgreSQL leads both current usage and future interest.</a:t>
            </a:r>
          </a:p>
        </p:txBody>
      </p:sp>
      <p:sp>
        <p:nvSpPr>
          <p:cNvPr id="14" name="Oval 13"/>
          <p:cNvSpPr/>
          <p:nvPr/>
        </p:nvSpPr>
        <p:spPr>
          <a:xfrm>
            <a:off x="813816" y="2532888"/>
            <a:ext cx="100584" cy="100584"/>
          </a:xfrm>
          <a:prstGeom prst="ellipse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2468880"/>
            <a:ext cx="3828164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Redis and Supabase show growing future interest.</a:t>
            </a:r>
          </a:p>
        </p:txBody>
      </p:sp>
      <p:sp>
        <p:nvSpPr>
          <p:cNvPr id="16" name="Oval 15"/>
          <p:cNvSpPr/>
          <p:nvPr/>
        </p:nvSpPr>
        <p:spPr>
          <a:xfrm>
            <a:off x="813816" y="3044952"/>
            <a:ext cx="100584" cy="100584"/>
          </a:xfrm>
          <a:prstGeom prst="ellipse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2980944"/>
            <a:ext cx="4911473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MySQL has significantly lower future interest than current usage.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417320"/>
            <a:ext cx="5349240" cy="452628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93407" y="1590830"/>
            <a:ext cx="141417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13365B"/>
                </a:solidFill>
                <a:latin typeface="Aptos"/>
              </a:rPr>
              <a:t>IMPLICATIONS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020824"/>
            <a:ext cx="100584" cy="100584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93407" y="1956816"/>
            <a:ext cx="4782313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>
                <a:solidFill>
                  <a:srgbClr val="1F3043"/>
                </a:solidFill>
                <a:latin typeface="Aptos"/>
              </a:rPr>
              <a:t>PostgreSQL shows the strongest future preference among surveyed developers.</a:t>
            </a:r>
            <a:endParaRPr sz="1400" dirty="0">
              <a:solidFill>
                <a:srgbClr val="1F3043"/>
              </a:solidFill>
              <a:latin typeface="Apto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483096" y="2532888"/>
            <a:ext cx="100584" cy="100584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93407" y="2468880"/>
            <a:ext cx="4803649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Knowledge of both relational and modern database technologies is valuable.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044952"/>
            <a:ext cx="100584" cy="100584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93407" y="2980944"/>
            <a:ext cx="4782313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Future technology demand should guide database skill development.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927080" y="-109728"/>
            <a:ext cx="1463040" cy="1143000"/>
          </a:xfrm>
          <a:prstGeom prst="roundRect">
            <a:avLst/>
          </a:prstGeom>
          <a:solidFill>
            <a:srgbClr val="E1F1F9"/>
          </a:solidFill>
          <a:ln>
            <a:solidFill>
              <a:srgbClr val="E1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475720" y="137160"/>
            <a:ext cx="438912" cy="438912"/>
          </a:xfrm>
          <a:prstGeom prst="round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320040"/>
            <a:ext cx="594360" cy="45720"/>
          </a:xfrm>
          <a:prstGeom prst="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81381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 dirty="0">
                <a:solidFill>
                  <a:srgbClr val="13365B"/>
                </a:solidFill>
                <a:latin typeface="Aptos"/>
              </a:rPr>
              <a:t>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0467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 dirty="0">
                <a:solidFill>
                  <a:srgbClr val="5E758B"/>
                </a:solidFill>
                <a:latin typeface="Aptos"/>
              </a:rPr>
              <a:t>A UNIFIED VIEW OF KEY INSIGHTS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3365B"/>
          </a:solidFill>
          <a:ln>
            <a:solidFill>
              <a:srgbClr val="13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49110"/>
            <a:ext cx="369364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Aptos"/>
              </a:rPr>
              <a:t>STACK OVERFLOW DEVELOPER SURVEY 2024 | Technology Trends &amp; Demographics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5285" y="1483941"/>
            <a:ext cx="10972800" cy="448056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837430" y="1571782"/>
            <a:ext cx="10551990" cy="1046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The dashboard brings together key insights from 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</a:rPr>
              <a:t>Technology Trends and Developer Demographics.</a:t>
            </a:r>
          </a:p>
          <a:p>
            <a:pPr algn="ctr"/>
            <a:endParaRPr sz="14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7" name="Rounded Rectangle 11">
            <a:extLst>
              <a:ext uri="{FF2B5EF4-FFF2-40B4-BE49-F238E27FC236}">
                <a16:creationId xmlns:a16="http://schemas.microsoft.com/office/drawing/2014/main" id="{786A8327-34CD-47CA-A691-A136562E563D}"/>
              </a:ext>
            </a:extLst>
          </p:cNvPr>
          <p:cNvSpPr/>
          <p:nvPr/>
        </p:nvSpPr>
        <p:spPr>
          <a:xfrm>
            <a:off x="2057400" y="2761275"/>
            <a:ext cx="2011680" cy="384048"/>
          </a:xfrm>
          <a:prstGeom prst="roundRect">
            <a:avLst/>
          </a:prstGeom>
          <a:solidFill>
            <a:srgbClr val="13365B"/>
          </a:solidFill>
          <a:ln>
            <a:solidFill>
              <a:srgbClr val="13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Aptos"/>
              </a:rPr>
              <a:t>TECHNOLOGY</a:t>
            </a:r>
          </a:p>
        </p:txBody>
      </p:sp>
      <p:sp>
        <p:nvSpPr>
          <p:cNvPr id="48" name="Rounded Rectangle 13">
            <a:extLst>
              <a:ext uri="{FF2B5EF4-FFF2-40B4-BE49-F238E27FC236}">
                <a16:creationId xmlns:a16="http://schemas.microsoft.com/office/drawing/2014/main" id="{0081C18F-47E6-4E6A-8A67-BD81ABE85A57}"/>
              </a:ext>
            </a:extLst>
          </p:cNvPr>
          <p:cNvSpPr/>
          <p:nvPr/>
        </p:nvSpPr>
        <p:spPr>
          <a:xfrm>
            <a:off x="5006802" y="2732335"/>
            <a:ext cx="2011680" cy="384048"/>
          </a:xfrm>
          <a:prstGeom prst="round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Aptos"/>
              </a:rPr>
              <a:t>DATABASES</a:t>
            </a:r>
            <a:endParaRPr/>
          </a:p>
        </p:txBody>
      </p:sp>
      <p:sp>
        <p:nvSpPr>
          <p:cNvPr id="49" name="Rounded Rectangle 15">
            <a:extLst>
              <a:ext uri="{FF2B5EF4-FFF2-40B4-BE49-F238E27FC236}">
                <a16:creationId xmlns:a16="http://schemas.microsoft.com/office/drawing/2014/main" id="{5FE3B528-7E14-4B71-8423-E3FF00ED0AC7}"/>
              </a:ext>
            </a:extLst>
          </p:cNvPr>
          <p:cNvSpPr/>
          <p:nvPr/>
        </p:nvSpPr>
        <p:spPr>
          <a:xfrm>
            <a:off x="8024322" y="2732335"/>
            <a:ext cx="2011680" cy="384048"/>
          </a:xfrm>
          <a:prstGeom prst="roundRect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Aptos"/>
              </a:rPr>
              <a:t>DEMOGRAPHICS</a:t>
            </a:r>
          </a:p>
        </p:txBody>
      </p:sp>
      <p:sp>
        <p:nvSpPr>
          <p:cNvPr id="50" name="Rounded Rectangle 17">
            <a:extLst>
              <a:ext uri="{FF2B5EF4-FFF2-40B4-BE49-F238E27FC236}">
                <a16:creationId xmlns:a16="http://schemas.microsoft.com/office/drawing/2014/main" id="{ACFAF4BA-9538-4C32-97D4-0BE838036358}"/>
              </a:ext>
            </a:extLst>
          </p:cNvPr>
          <p:cNvSpPr/>
          <p:nvPr/>
        </p:nvSpPr>
        <p:spPr>
          <a:xfrm>
            <a:off x="2057400" y="3429000"/>
            <a:ext cx="2011680" cy="1005840"/>
          </a:xfrm>
          <a:prstGeom prst="roundRect">
            <a:avLst/>
          </a:prstGeom>
          <a:solidFill>
            <a:srgbClr val="E1F1F9"/>
          </a:solidFill>
          <a:ln>
            <a:solidFill>
              <a:srgbClr val="E1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Languages, databases &amp; tools currently used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51" name="Rounded Rectangle 17">
            <a:extLst>
              <a:ext uri="{FF2B5EF4-FFF2-40B4-BE49-F238E27FC236}">
                <a16:creationId xmlns:a16="http://schemas.microsoft.com/office/drawing/2014/main" id="{53651F06-1EB1-45DB-92C1-6A720D196B99}"/>
              </a:ext>
            </a:extLst>
          </p:cNvPr>
          <p:cNvSpPr/>
          <p:nvPr/>
        </p:nvSpPr>
        <p:spPr>
          <a:xfrm>
            <a:off x="5090007" y="3429000"/>
            <a:ext cx="2011680" cy="1005840"/>
          </a:xfrm>
          <a:prstGeom prst="roundRect">
            <a:avLst/>
          </a:prstGeom>
          <a:solidFill>
            <a:srgbClr val="E1F1F9"/>
          </a:solidFill>
          <a:ln>
            <a:solidFill>
              <a:srgbClr val="E1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Technologies developers want to work with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52" name="Rounded Rectangle 17">
            <a:extLst>
              <a:ext uri="{FF2B5EF4-FFF2-40B4-BE49-F238E27FC236}">
                <a16:creationId xmlns:a16="http://schemas.microsoft.com/office/drawing/2014/main" id="{B2C9E2E0-0980-4B55-B5BC-FB28D853AB17}"/>
              </a:ext>
            </a:extLst>
          </p:cNvPr>
          <p:cNvSpPr/>
          <p:nvPr/>
        </p:nvSpPr>
        <p:spPr>
          <a:xfrm>
            <a:off x="8122920" y="3429000"/>
            <a:ext cx="2011680" cy="1005840"/>
          </a:xfrm>
          <a:prstGeom prst="roundRect">
            <a:avLst/>
          </a:prstGeom>
          <a:solidFill>
            <a:srgbClr val="E1F1F9"/>
          </a:solidFill>
          <a:ln>
            <a:solidFill>
              <a:srgbClr val="E1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Age, education &amp; geographic profile</a:t>
            </a:r>
            <a:endParaRPr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927080" y="-109728"/>
            <a:ext cx="1463040" cy="1143000"/>
          </a:xfrm>
          <a:prstGeom prst="roundRect">
            <a:avLst/>
          </a:prstGeom>
          <a:solidFill>
            <a:srgbClr val="E1F1F9"/>
          </a:solidFill>
          <a:ln>
            <a:solidFill>
              <a:srgbClr val="E1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475720" y="137160"/>
            <a:ext cx="438912" cy="438912"/>
          </a:xfrm>
          <a:prstGeom prst="round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320040"/>
            <a:ext cx="594360" cy="45720"/>
          </a:xfrm>
          <a:prstGeom prst="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465338"/>
            <a:ext cx="9609234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DASHBOARD TAB 1: CURRENT TECHNOLOGY USAGE</a:t>
            </a:r>
            <a:endParaRPr sz="2700" b="1" dirty="0">
              <a:solidFill>
                <a:srgbClr val="13365B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0467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E758B"/>
                </a:solidFill>
                <a:latin typeface="Aptos"/>
              </a:rPr>
              <a:t>CURRENT TECHNOLOGY USAGE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3365B"/>
          </a:solidFill>
          <a:ln>
            <a:solidFill>
              <a:srgbClr val="13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49110"/>
            <a:ext cx="369364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Aptos"/>
              </a:rPr>
              <a:t>STACK OVERFLOW DEVELOPER SURVEY 2024 | Technology Trends &amp; Demographics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362810"/>
            <a:ext cx="2301862" cy="448056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7928" y="1506927"/>
            <a:ext cx="1350626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13365B"/>
                </a:solidFill>
                <a:latin typeface="Aptos"/>
              </a:rPr>
              <a:t>KEY INSIGHTS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020824"/>
            <a:ext cx="100584" cy="100584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7573" y="2944854"/>
            <a:ext cx="100584" cy="100584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 rot="202902">
            <a:off x="477466" y="3705665"/>
            <a:ext cx="100584" cy="100584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4074" y="1892921"/>
            <a:ext cx="1942074" cy="26237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JavaScript leads current language usage.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5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5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PostgreSQL leads database usage.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5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5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AWS, Node.js and React are prominent technologies.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50" dirty="0">
              <a:latin typeface="Arial" panose="020B0604020202020204" pitchFamily="34" charset="0"/>
            </a:endParaRPr>
          </a:p>
        </p:txBody>
      </p:sp>
      <p:pic>
        <p:nvPicPr>
          <p:cNvPr id="19" name="Content Placeholder 3">
            <a:extLst>
              <a:ext uri="{FF2B5EF4-FFF2-40B4-BE49-F238E27FC236}">
                <a16:creationId xmlns:a16="http://schemas.microsoft.com/office/drawing/2014/main" id="{68F2C756-E067-424F-965A-CAE0B3E3F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182" y="1211698"/>
            <a:ext cx="9180214" cy="508851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927080" y="-109728"/>
            <a:ext cx="1463040" cy="1143000"/>
          </a:xfrm>
          <a:prstGeom prst="roundRect">
            <a:avLst/>
          </a:prstGeom>
          <a:solidFill>
            <a:srgbClr val="E1F1F9"/>
          </a:solidFill>
          <a:ln>
            <a:solidFill>
              <a:srgbClr val="E1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475720" y="137160"/>
            <a:ext cx="438912" cy="438912"/>
          </a:xfrm>
          <a:prstGeom prst="round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320040"/>
            <a:ext cx="594360" cy="45720"/>
          </a:xfrm>
          <a:prstGeom prst="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465338"/>
            <a:ext cx="9509847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DASHBOARD TAB 2: FUTURE TECHNOLOGY TRENDS</a:t>
            </a:r>
            <a:endParaRPr sz="2700" b="1" dirty="0">
              <a:solidFill>
                <a:srgbClr val="13365B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0467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E758B"/>
                </a:solidFill>
                <a:latin typeface="Aptos"/>
              </a:rPr>
              <a:t>FUTURE TECHNOLOGY TRENDS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3365B"/>
          </a:solidFill>
          <a:ln>
            <a:solidFill>
              <a:srgbClr val="13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49110"/>
            <a:ext cx="369364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Aptos"/>
              </a:rPr>
              <a:t>STACK OVERFLOW DEVELOPER SURVEY 2024 | Technology Trends &amp; Demographics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417320"/>
            <a:ext cx="2404499" cy="448056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1554367"/>
            <a:ext cx="1350626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13365B"/>
                </a:solidFill>
                <a:latin typeface="Aptos"/>
              </a:rPr>
              <a:t>KEY INSIGHTS</a:t>
            </a:r>
          </a:p>
        </p:txBody>
      </p:sp>
      <p:sp>
        <p:nvSpPr>
          <p:cNvPr id="12" name="Oval 11"/>
          <p:cNvSpPr/>
          <p:nvPr/>
        </p:nvSpPr>
        <p:spPr>
          <a:xfrm>
            <a:off x="422863" y="2143428"/>
            <a:ext cx="100584" cy="100584"/>
          </a:xfrm>
          <a:prstGeom prst="ellipse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3" y="2017013"/>
            <a:ext cx="1746132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JavaScript, SQL and HTML/CSS lead future language interest.</a:t>
            </a:r>
          </a:p>
        </p:txBody>
      </p:sp>
      <p:sp>
        <p:nvSpPr>
          <p:cNvPr id="14" name="Oval 13"/>
          <p:cNvSpPr/>
          <p:nvPr/>
        </p:nvSpPr>
        <p:spPr>
          <a:xfrm>
            <a:off x="455145" y="4151883"/>
            <a:ext cx="100584" cy="100584"/>
          </a:xfrm>
          <a:prstGeom prst="ellipse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106" y="3197768"/>
            <a:ext cx="1867431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PostgreSQL shows the strongest future database demand.</a:t>
            </a:r>
          </a:p>
        </p:txBody>
      </p:sp>
      <p:sp>
        <p:nvSpPr>
          <p:cNvPr id="16" name="Oval 15"/>
          <p:cNvSpPr/>
          <p:nvPr/>
        </p:nvSpPr>
        <p:spPr>
          <a:xfrm>
            <a:off x="420157" y="3329856"/>
            <a:ext cx="100584" cy="100584"/>
          </a:xfrm>
          <a:prstGeom prst="ellipse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3" y="4033885"/>
            <a:ext cx="1746132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AWS, Azure, React and Node.js remain highly preferred technologies.</a:t>
            </a:r>
          </a:p>
        </p:txBody>
      </p:sp>
      <p:pic>
        <p:nvPicPr>
          <p:cNvPr id="19" name="Content Placeholder 3">
            <a:extLst>
              <a:ext uri="{FF2B5EF4-FFF2-40B4-BE49-F238E27FC236}">
                <a16:creationId xmlns:a16="http://schemas.microsoft.com/office/drawing/2014/main" id="{67119B6B-BE78-452D-AAA6-FD738434B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100" y="1161962"/>
            <a:ext cx="9051532" cy="52307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927080" y="-109728"/>
            <a:ext cx="1463040" cy="1143000"/>
          </a:xfrm>
          <a:prstGeom prst="roundRect">
            <a:avLst/>
          </a:prstGeom>
          <a:solidFill>
            <a:srgbClr val="E1F1F9"/>
          </a:solidFill>
          <a:ln>
            <a:solidFill>
              <a:srgbClr val="E1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475720" y="137160"/>
            <a:ext cx="438912" cy="438912"/>
          </a:xfrm>
          <a:prstGeom prst="round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320040"/>
            <a:ext cx="594360" cy="45720"/>
          </a:xfrm>
          <a:prstGeom prst="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465338"/>
            <a:ext cx="6823278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DASHBOARD TAB 3: DEMOGRAPHICS</a:t>
            </a:r>
            <a:endParaRPr sz="2700" b="1" dirty="0">
              <a:solidFill>
                <a:srgbClr val="13365B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0467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E758B"/>
                </a:solidFill>
                <a:latin typeface="Aptos"/>
              </a:rPr>
              <a:t>DEMOGRAPHICS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3365B"/>
          </a:solidFill>
          <a:ln>
            <a:solidFill>
              <a:srgbClr val="13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49110"/>
            <a:ext cx="369364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Aptos"/>
              </a:rPr>
              <a:t>STACK OVERFLOW DEVELOPER SURVEY 2024 | Technology Trends &amp; Demographics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308" y="1344168"/>
            <a:ext cx="2174593" cy="448056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1554367"/>
            <a:ext cx="1350626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13365B"/>
                </a:solidFill>
                <a:latin typeface="Aptos"/>
              </a:rPr>
              <a:t>KEY INSIGHTS</a:t>
            </a:r>
          </a:p>
        </p:txBody>
      </p:sp>
      <p:sp>
        <p:nvSpPr>
          <p:cNvPr id="12" name="Oval 11"/>
          <p:cNvSpPr/>
          <p:nvPr/>
        </p:nvSpPr>
        <p:spPr>
          <a:xfrm>
            <a:off x="320040" y="2071116"/>
            <a:ext cx="100584" cy="100584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5155" y="1956816"/>
            <a:ext cx="1739506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The 25–34 age group represents the largest share of respondents.</a:t>
            </a:r>
          </a:p>
        </p:txBody>
      </p:sp>
      <p:sp>
        <p:nvSpPr>
          <p:cNvPr id="14" name="Oval 13"/>
          <p:cNvSpPr/>
          <p:nvPr/>
        </p:nvSpPr>
        <p:spPr>
          <a:xfrm>
            <a:off x="356616" y="3158322"/>
            <a:ext cx="100584" cy="100584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5156" y="3046517"/>
            <a:ext cx="1853526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Bachelor’s </a:t>
            </a:r>
            <a:r>
              <a:rPr sz="1400" dirty="0">
                <a:solidFill>
                  <a:srgbClr val="1F3043"/>
                </a:solidFill>
                <a:latin typeface="Aptos"/>
              </a:rPr>
              <a:t>degree holders make up the l</a:t>
            </a:r>
            <a:r>
              <a:rPr sz="1400" b="0" dirty="0">
                <a:solidFill>
                  <a:srgbClr val="1F3043"/>
                </a:solidFill>
                <a:latin typeface="Aptos"/>
              </a:rPr>
              <a:t>argest education group.</a:t>
            </a:r>
          </a:p>
        </p:txBody>
      </p:sp>
      <p:sp>
        <p:nvSpPr>
          <p:cNvPr id="16" name="Oval 15"/>
          <p:cNvSpPr/>
          <p:nvPr/>
        </p:nvSpPr>
        <p:spPr>
          <a:xfrm>
            <a:off x="400842" y="4254789"/>
            <a:ext cx="100584" cy="100584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5155" y="4155859"/>
            <a:ext cx="1739506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The survey represents a globally distributed developer community.</a:t>
            </a:r>
          </a:p>
        </p:txBody>
      </p:sp>
      <p:pic>
        <p:nvPicPr>
          <p:cNvPr id="19" name="Content Placeholder 3">
            <a:extLst>
              <a:ext uri="{FF2B5EF4-FFF2-40B4-BE49-F238E27FC236}">
                <a16:creationId xmlns:a16="http://schemas.microsoft.com/office/drawing/2014/main" id="{B405A493-C843-4403-B33A-4745CD7A4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508" y="1098286"/>
            <a:ext cx="9269124" cy="529437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927080" y="-109728"/>
            <a:ext cx="1463040" cy="1143000"/>
          </a:xfrm>
          <a:prstGeom prst="roundRect">
            <a:avLst/>
          </a:prstGeom>
          <a:solidFill>
            <a:srgbClr val="E1F1F9"/>
          </a:solidFill>
          <a:ln>
            <a:solidFill>
              <a:srgbClr val="E1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475720" y="137160"/>
            <a:ext cx="438912" cy="438912"/>
          </a:xfrm>
          <a:prstGeom prst="round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320040"/>
            <a:ext cx="594360" cy="45720"/>
          </a:xfrm>
          <a:prstGeom prst="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81381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3365B"/>
                </a:solidFill>
                <a:latin typeface="Aptos"/>
              </a:rP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0467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E758B"/>
                </a:solidFill>
                <a:latin typeface="Aptos"/>
              </a:rPr>
              <a:t>INTERPRETING THE FINDINGS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3365B"/>
          </a:solidFill>
          <a:ln>
            <a:solidFill>
              <a:srgbClr val="13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49110"/>
            <a:ext cx="369364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Aptos"/>
              </a:rPr>
              <a:t>STACK OVERFLOW DEVELOPER SURVEY 2024 | Technology Trends &amp; Demographics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2651760" cy="438912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73152" cy="4389120"/>
          </a:xfrm>
          <a:prstGeom prst="roundRect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5800" y="1618488"/>
            <a:ext cx="438912" cy="438912"/>
          </a:xfrm>
          <a:prstGeom prst="ellipse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609344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1563511"/>
            <a:ext cx="139333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13365B"/>
                </a:solidFill>
                <a:latin typeface="Aptos"/>
              </a:rPr>
              <a:t>Current Usage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1947672"/>
            <a:ext cx="1591056" cy="18158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JavaScript, PostgreSQL, AWS and leading web frameworks such as React and Node.js are prominent in current usage.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1417320"/>
            <a:ext cx="2651760" cy="438912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337560" y="1417320"/>
            <a:ext cx="73152" cy="4389120"/>
          </a:xfrm>
          <a:prstGeom prst="round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520440" y="1618488"/>
            <a:ext cx="438912" cy="438912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20440" y="1609344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87368" y="1563511"/>
            <a:ext cx="1358962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13365B"/>
                </a:solidFill>
                <a:latin typeface="Aptos"/>
              </a:rPr>
              <a:t>Future Trends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87368" y="1947672"/>
            <a:ext cx="1591056" cy="1384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JavaScript, SQL, PostgreSQL and major cloud/web technologies show strong future interest.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417320"/>
            <a:ext cx="2651760" cy="438912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72200" y="1417320"/>
            <a:ext cx="73152" cy="4389120"/>
          </a:xfrm>
          <a:prstGeom prst="roundRect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355080" y="1618488"/>
            <a:ext cx="438912" cy="438912"/>
          </a:xfrm>
          <a:prstGeom prst="ellipse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1609344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8" y="1563511"/>
            <a:ext cx="1585562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13365B"/>
                </a:solidFill>
                <a:latin typeface="Aptos"/>
              </a:rPr>
              <a:t>Technology Shift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1947672"/>
            <a:ext cx="1655064" cy="20313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Comparison between current usage and future preferences highlights opportunities in emerging and evolving technologies.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1417320"/>
            <a:ext cx="2651760" cy="438912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006840" y="1417320"/>
            <a:ext cx="73152" cy="4389120"/>
          </a:xfrm>
          <a:prstGeom prst="round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189719" y="1618488"/>
            <a:ext cx="438912" cy="438912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89719" y="1609344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6648" y="1563511"/>
            <a:ext cx="1666803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13365B"/>
                </a:solidFill>
                <a:latin typeface="Aptos"/>
              </a:rPr>
              <a:t>Developer Profile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3650" y="1947672"/>
            <a:ext cx="1755648" cy="16004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Respondent base is largely younger, educated developers, with 25–34 the largest segment and respondents distributed globally.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927080" y="-109728"/>
            <a:ext cx="1463040" cy="1143000"/>
          </a:xfrm>
          <a:prstGeom prst="roundRect">
            <a:avLst/>
          </a:prstGeom>
          <a:solidFill>
            <a:srgbClr val="E1F1F9"/>
          </a:solidFill>
          <a:ln>
            <a:solidFill>
              <a:srgbClr val="E1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475720" y="137160"/>
            <a:ext cx="438912" cy="438912"/>
          </a:xfrm>
          <a:prstGeom prst="round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320040"/>
            <a:ext cx="594360" cy="45720"/>
          </a:xfrm>
          <a:prstGeom prst="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81381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3365B"/>
                </a:solidFill>
                <a:latin typeface="Aptos"/>
              </a:rPr>
              <a:t>OVERALL FINDINGS &amp; IMPLICATIONS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0467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E758B"/>
                </a:solidFill>
                <a:latin typeface="Aptos"/>
              </a:rPr>
              <a:t>FROM DATA TO 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3365B"/>
          </a:solidFill>
          <a:ln>
            <a:solidFill>
              <a:srgbClr val="13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49110"/>
            <a:ext cx="369364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Aptos"/>
              </a:rPr>
              <a:t>STACK OVERFLOW DEVELOPER SURVEY 2024 | Technology Trends &amp; Demographics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17320"/>
            <a:ext cx="5349240" cy="452628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1583252"/>
            <a:ext cx="101662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13365B"/>
                </a:solidFill>
                <a:latin typeface="Aptos"/>
              </a:rPr>
              <a:t>FINDINGS</a:t>
            </a:r>
          </a:p>
        </p:txBody>
      </p:sp>
      <p:sp>
        <p:nvSpPr>
          <p:cNvPr id="12" name="Oval 11"/>
          <p:cNvSpPr/>
          <p:nvPr/>
        </p:nvSpPr>
        <p:spPr>
          <a:xfrm>
            <a:off x="813816" y="2020824"/>
            <a:ext cx="100584" cy="100584"/>
          </a:xfrm>
          <a:prstGeom prst="ellipse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1956816"/>
            <a:ext cx="4807505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JavaScript and PostgreSQL show strong current and future demand.</a:t>
            </a:r>
          </a:p>
        </p:txBody>
      </p:sp>
      <p:sp>
        <p:nvSpPr>
          <p:cNvPr id="14" name="Oval 13"/>
          <p:cNvSpPr/>
          <p:nvPr/>
        </p:nvSpPr>
        <p:spPr>
          <a:xfrm>
            <a:off x="813816" y="2532888"/>
            <a:ext cx="100584" cy="100584"/>
          </a:xfrm>
          <a:prstGeom prst="ellipse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2468880"/>
            <a:ext cx="5015219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Modern web, database and cloud technologies remain highly relevant.</a:t>
            </a:r>
          </a:p>
        </p:txBody>
      </p:sp>
      <p:sp>
        <p:nvSpPr>
          <p:cNvPr id="16" name="Oval 15"/>
          <p:cNvSpPr/>
          <p:nvPr/>
        </p:nvSpPr>
        <p:spPr>
          <a:xfrm>
            <a:off x="813816" y="3044952"/>
            <a:ext cx="100584" cy="100584"/>
          </a:xfrm>
          <a:prstGeom prst="ellipse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2980944"/>
            <a:ext cx="4667545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The respondent population is predominantly young and educated.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417320"/>
            <a:ext cx="5349240" cy="452628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93407" y="1565131"/>
            <a:ext cx="141417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13365B"/>
                </a:solidFill>
                <a:latin typeface="Aptos"/>
              </a:rPr>
              <a:t>IMPLICATIONS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020824"/>
            <a:ext cx="100584" cy="100584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93407" y="1956816"/>
            <a:ext cx="4744312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Prioritize skills aligned with strong current and future demand.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2532888"/>
            <a:ext cx="100584" cy="100584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93407" y="2468880"/>
            <a:ext cx="4782313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Continuous upskilling is essential as technology preferences evolve.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044952"/>
            <a:ext cx="100584" cy="100584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93407" y="2980944"/>
            <a:ext cx="4782313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Organizations can use these trends to guide hiring, training and technology planning.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927080" y="-109728"/>
            <a:ext cx="1463040" cy="1143000"/>
          </a:xfrm>
          <a:prstGeom prst="roundRect">
            <a:avLst/>
          </a:prstGeom>
          <a:solidFill>
            <a:srgbClr val="E1F1F9"/>
          </a:solidFill>
          <a:ln>
            <a:solidFill>
              <a:srgbClr val="E1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475720" y="137160"/>
            <a:ext cx="438912" cy="438912"/>
          </a:xfrm>
          <a:prstGeom prst="round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320040"/>
            <a:ext cx="594360" cy="45720"/>
          </a:xfrm>
          <a:prstGeom prst="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81381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3365B"/>
                </a:solidFill>
                <a:latin typeface="Aptos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0467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E758B"/>
                </a:solidFill>
                <a:latin typeface="Aptos"/>
              </a:rPr>
              <a:t>KEY TAKEAWAYS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3365B"/>
          </a:solidFill>
          <a:ln>
            <a:solidFill>
              <a:srgbClr val="13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49110"/>
            <a:ext cx="369364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Aptos"/>
              </a:rPr>
              <a:t>STACK OVERFLOW DEVELOPER SURVEY 2024 | Technology Trends &amp; Demographics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17320"/>
            <a:ext cx="6537960" cy="4526280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8680" y="1737360"/>
            <a:ext cx="411480" cy="411480"/>
          </a:xfrm>
          <a:prstGeom prst="ellipse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173736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719072"/>
            <a:ext cx="4779963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JavaScript and PostgreSQL remain highly relevant technologies.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2679191"/>
            <a:ext cx="411480" cy="411480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679191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3" y="2660903"/>
            <a:ext cx="5357264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Cloud and web technologies such as AWS, React and Node.js show strong future relevance.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621024"/>
            <a:ext cx="411480" cy="411480"/>
          </a:xfrm>
          <a:prstGeom prst="ellipse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621024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3602736"/>
            <a:ext cx="4792722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Continuous upskilling is important as technology trends evolve.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4562856"/>
            <a:ext cx="411480" cy="411480"/>
          </a:xfrm>
          <a:prstGeom prst="ellipse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562856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4544568"/>
            <a:ext cx="5543877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F3043"/>
                </a:solidFill>
                <a:latin typeface="Aptos"/>
              </a:rPr>
              <a:t>The analysis provides insights to guide technology learning, hiring and investment decisions.</a:t>
            </a:r>
          </a:p>
        </p:txBody>
      </p:sp>
      <p:pic>
        <p:nvPicPr>
          <p:cNvPr id="23" name="Picture 22" descr="outline_illustration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508760"/>
            <a:ext cx="38404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927080" y="-109728"/>
            <a:ext cx="1463040" cy="1143000"/>
          </a:xfrm>
          <a:prstGeom prst="roundRect">
            <a:avLst/>
          </a:prstGeom>
          <a:solidFill>
            <a:srgbClr val="E1F1F9"/>
          </a:solidFill>
          <a:ln>
            <a:solidFill>
              <a:srgbClr val="E1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475720" y="137160"/>
            <a:ext cx="438912" cy="438912"/>
          </a:xfrm>
          <a:prstGeom prst="round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320040"/>
            <a:ext cx="594360" cy="45720"/>
          </a:xfrm>
          <a:prstGeom prst="rect">
            <a:avLst/>
          </a:prstGeom>
          <a:solidFill>
            <a:srgbClr val="269DA6"/>
          </a:solidFill>
          <a:ln>
            <a:solidFill>
              <a:srgbClr val="26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473033"/>
            <a:ext cx="4532331" cy="5078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2700" b="1" dirty="0">
                <a:solidFill>
                  <a:srgbClr val="13365B"/>
                </a:solidFill>
                <a:latin typeface="Aptos"/>
              </a:rPr>
              <a:t>DATA SOURCES &amp; REFERENCES</a:t>
            </a:r>
            <a:endParaRPr sz="2700" b="1" dirty="0">
              <a:solidFill>
                <a:srgbClr val="13365B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0467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E758B"/>
                </a:solidFill>
                <a:latin typeface="Aptos"/>
              </a:rPr>
              <a:t>FROM DATA TO 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3365B"/>
          </a:solidFill>
          <a:ln>
            <a:solidFill>
              <a:srgbClr val="13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49110"/>
            <a:ext cx="369364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Aptos"/>
              </a:rPr>
              <a:t>STACK OVERFLOW DEVELOPER SURVEY 2024 | Technology Trends &amp; Demographics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365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17320"/>
            <a:ext cx="10881360" cy="3374136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1535027"/>
            <a:ext cx="1465081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1600" b="1" dirty="0">
                <a:solidFill>
                  <a:srgbClr val="13365B"/>
                </a:solidFill>
                <a:latin typeface="Aptos"/>
              </a:rPr>
              <a:t>DATA SOURCES</a:t>
            </a:r>
          </a:p>
          <a:p>
            <a:pPr algn="l"/>
            <a:endParaRPr sz="1600" b="1" dirty="0">
              <a:solidFill>
                <a:srgbClr val="13365B"/>
              </a:solidFill>
              <a:latin typeface="Apto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13816" y="2020824"/>
            <a:ext cx="100584" cy="100584"/>
          </a:xfrm>
          <a:prstGeom prst="ellipse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1956816"/>
            <a:ext cx="10420959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>
                <a:solidFill>
                  <a:srgbClr val="1F3043"/>
                </a:solidFill>
                <a:latin typeface="Aptos"/>
                <a:hlinkClick r:id="rId2"/>
              </a:rPr>
              <a:t>https://cf-courses-data.s3.us.cloud-object-storage.appdomain.cloud/IBM-DA0321EN-SkillsNetwork/labs/module%201/Accessing%20Data%20Using%20APIs/jobs.json</a:t>
            </a:r>
            <a:r>
              <a:rPr lang="en-US" sz="1400" dirty="0">
                <a:solidFill>
                  <a:srgbClr val="1F3043"/>
                </a:solidFill>
                <a:latin typeface="Aptos"/>
              </a:rPr>
              <a:t> - </a:t>
            </a:r>
            <a:r>
              <a:rPr lang="en-US" sz="1400" dirty="0"/>
              <a:t>Stack Overflow Developer Survey 2024</a:t>
            </a:r>
            <a:endParaRPr sz="1400" b="0" dirty="0">
              <a:solidFill>
                <a:srgbClr val="1F3043"/>
              </a:solidFill>
              <a:latin typeface="Apto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10177" y="3861940"/>
            <a:ext cx="100584" cy="100584"/>
          </a:xfrm>
          <a:prstGeom prst="ellipse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15746" y="3745016"/>
            <a:ext cx="10332721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>
                <a:solidFill>
                  <a:srgbClr val="1F3043"/>
                </a:solidFill>
                <a:latin typeface="Aptos"/>
                <a:hlinkClick r:id="rId3"/>
              </a:rPr>
              <a:t>https://cf-courses-data.s3.us.cloud-object-storage.appdomain.cloud/n01PQ9pSmiRX6520flujwQ/survey-data.csv</a:t>
            </a:r>
            <a:r>
              <a:rPr lang="en-US" sz="1400" dirty="0">
                <a:solidFill>
                  <a:srgbClr val="1F3043"/>
                </a:solidFill>
                <a:latin typeface="Aptos"/>
              </a:rPr>
              <a:t>  - </a:t>
            </a:r>
            <a:r>
              <a:rPr lang="en-US" sz="1400" dirty="0"/>
              <a:t>Stack Overflow Developer Survey 2024</a:t>
            </a:r>
            <a:br>
              <a:rPr lang="en-US" sz="1400" dirty="0"/>
            </a:br>
            <a:r>
              <a:rPr lang="en-US" sz="1400" dirty="0"/>
              <a:t>Original source - </a:t>
            </a:r>
            <a:r>
              <a:rPr lang="en-US" sz="1400" dirty="0">
                <a:hlinkClick r:id="rId4"/>
              </a:rPr>
              <a:t>Unpacking the 2024 Developer Survey results - Stack Overflow</a:t>
            </a:r>
            <a:endParaRPr sz="1400" b="0" dirty="0">
              <a:solidFill>
                <a:srgbClr val="1F3043"/>
              </a:solidFill>
              <a:latin typeface="Apto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804624" y="2948940"/>
            <a:ext cx="100584" cy="100584"/>
          </a:xfrm>
          <a:prstGeom prst="ellipse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15746" y="2850916"/>
            <a:ext cx="10349483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>
                <a:solidFill>
                  <a:srgbClr val="1F3043"/>
                </a:solidFill>
                <a:latin typeface="Aptos"/>
                <a:hlinkClick r:id="rId5"/>
              </a:rPr>
              <a:t>https://cf-courses-data.s3.us.cloud-object-storage.appdomain.cloud/IBM-DA0321EN-SkillsNetwork/labs/datasets/Programming_Languages.html</a:t>
            </a:r>
            <a:r>
              <a:rPr lang="en-US" sz="1400" dirty="0">
                <a:solidFill>
                  <a:srgbClr val="1F3043"/>
                </a:solidFill>
                <a:latin typeface="Aptos"/>
              </a:rPr>
              <a:t> - </a:t>
            </a:r>
            <a:r>
              <a:rPr lang="en-US" sz="1400" dirty="0"/>
              <a:t>Web-Scraped Salary Dataset</a:t>
            </a:r>
            <a:endParaRPr sz="1400" b="0" dirty="0">
              <a:solidFill>
                <a:srgbClr val="1F3043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94360" y="5093049"/>
            <a:ext cx="10881360" cy="1131163"/>
          </a:xfrm>
          <a:prstGeom prst="roundRect">
            <a:avLst/>
          </a:prstGeom>
          <a:solidFill>
            <a:srgbClr val="F4F9FC"/>
          </a:solidFill>
          <a:ln>
            <a:solidFill>
              <a:srgbClr val="D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1015746" y="5175817"/>
            <a:ext cx="2294539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1600" b="1" dirty="0">
                <a:solidFill>
                  <a:srgbClr val="13365B"/>
                </a:solidFill>
                <a:latin typeface="Aptos"/>
              </a:rPr>
              <a:t>TOOLS &amp; TECHNOLOGIES</a:t>
            </a:r>
            <a:endParaRPr sz="1600" b="1" dirty="0">
              <a:solidFill>
                <a:srgbClr val="13365B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33272" y="5532140"/>
            <a:ext cx="10331957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/>
              <a:t>Python •  Pandas •  NumPy •  SQL •  Matplotlib •  Seaborn •  APIs &amp; Web Scraping •  IBM Cognos Analytics •  </a:t>
            </a:r>
            <a:r>
              <a:rPr lang="en-US" sz="1400" dirty="0" err="1"/>
              <a:t>JupyterLab</a:t>
            </a:r>
            <a:r>
              <a:rPr lang="en-US" sz="1400" dirty="0"/>
              <a:t> </a:t>
            </a:r>
            <a:endParaRPr sz="1400" b="0" dirty="0">
              <a:solidFill>
                <a:srgbClr val="1F3043"/>
              </a:solidFill>
              <a:latin typeface="Apto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E69D3A9-6453-46A7-B8FF-57F10767F17E}"/>
              </a:ext>
            </a:extLst>
          </p:cNvPr>
          <p:cNvSpPr/>
          <p:nvPr/>
        </p:nvSpPr>
        <p:spPr>
          <a:xfrm>
            <a:off x="851416" y="5658630"/>
            <a:ext cx="100584" cy="100584"/>
          </a:xfrm>
          <a:prstGeom prst="ellipse">
            <a:avLst/>
          </a:prstGeom>
          <a:solidFill>
            <a:srgbClr val="2569B1"/>
          </a:solidFill>
          <a:ln>
            <a:solidFill>
              <a:srgbClr val="2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88612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1341</Words>
  <Application>Microsoft Office PowerPoint</Application>
  <PresentationFormat>Widescreen</PresentationFormat>
  <Paragraphs>238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Ashwini</dc:creator>
  <cp:keywords/>
  <dc:description>generated using python-pptx</dc:description>
  <cp:lastModifiedBy>ḥ</cp:lastModifiedBy>
  <cp:revision>64</cp:revision>
  <dcterms:created xsi:type="dcterms:W3CDTF">2013-01-27T09:14:16Z</dcterms:created>
  <dcterms:modified xsi:type="dcterms:W3CDTF">2026-09-08T15:47:22Z</dcterms:modified>
  <cp:category/>
</cp:coreProperties>
</file>